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74" r:id="rId3"/>
    <p:sldId id="269" r:id="rId4"/>
    <p:sldId id="275" r:id="rId5"/>
    <p:sldId id="276" r:id="rId6"/>
    <p:sldId id="277" r:id="rId7"/>
    <p:sldId id="292" r:id="rId8"/>
    <p:sldId id="278" r:id="rId9"/>
    <p:sldId id="280" r:id="rId10"/>
    <p:sldId id="279" r:id="rId11"/>
    <p:sldId id="281" r:id="rId12"/>
    <p:sldId id="282" r:id="rId13"/>
    <p:sldId id="283" r:id="rId14"/>
    <p:sldId id="284" r:id="rId15"/>
    <p:sldId id="285" r:id="rId16"/>
    <p:sldId id="286" r:id="rId17"/>
    <p:sldId id="28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D0CD42E8-3039-47BC-901F-B27A758BA27D}" type="datetimeFigureOut">
              <a:rPr lang="en-IN" smtClean="0"/>
              <a:t>18-12-2024</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1CC7AA3-843B-460B-AAC8-E83FEB1A8833}" type="slidenum">
              <a:rPr lang="en-IN" smtClean="0"/>
              <a:t>‹#›</a:t>
            </a:fld>
            <a:endParaRPr lang="en-IN"/>
          </a:p>
        </p:txBody>
      </p:sp>
    </p:spTree>
    <p:extLst>
      <p:ext uri="{BB962C8B-B14F-4D97-AF65-F5344CB8AC3E}">
        <p14:creationId xmlns:p14="http://schemas.microsoft.com/office/powerpoint/2010/main" val="336158878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CD42E8-3039-47BC-901F-B27A758BA27D}"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1142608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D0CD42E8-3039-47BC-901F-B27A758BA27D}" type="datetimeFigureOut">
              <a:rPr lang="en-IN" smtClean="0"/>
              <a:t>18-12-2024</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383908787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CD42E8-3039-47BC-901F-B27A758BA27D}" type="datetimeFigureOut">
              <a:rPr lang="en-IN" smtClean="0"/>
              <a:t>18-12-2024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804489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CD42E8-3039-47BC-901F-B27A758BA27D}" type="datetimeFigureOut">
              <a:rPr lang="en-IN" smtClean="0"/>
              <a:t>18-12-2024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1701082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CD42E8-3039-47BC-901F-B27A758BA27D}" type="datetimeFigureOut">
              <a:rPr lang="en-IN" smtClean="0"/>
              <a:t>18-12-2024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4113618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CD42E8-3039-47BC-901F-B27A758BA27D}" type="datetimeFigureOut">
              <a:rPr lang="en-IN" smtClean="0"/>
              <a:t>18-12-2024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3589009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D0CD42E8-3039-47BC-901F-B27A758BA27D}" type="datetimeFigureOut">
              <a:rPr lang="en-IN" smtClean="0"/>
              <a:t>18-12-2024</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6728" y="6227064"/>
            <a:ext cx="1463040" cy="256032"/>
          </a:xfrm>
        </p:spPr>
        <p:txBody>
          <a:bodyPr/>
          <a:lstStyle/>
          <a:p>
            <a:fld id="{51CC7AA3-843B-460B-AAC8-E83FEB1A8833}"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3319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D0CD42E8-3039-47BC-901F-B27A758BA27D}" type="datetimeFigureOut">
              <a:rPr lang="en-IN" smtClean="0"/>
              <a:t>18-12-2024</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56032"/>
          </a:xfrm>
        </p:spPr>
        <p:txBody>
          <a:bodyPr/>
          <a:lstStyle/>
          <a:p>
            <a:fld id="{51CC7AA3-843B-460B-AAC8-E83FEB1A8833}"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3442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CD42E8-3039-47BC-901F-B27A758BA27D}"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3662577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CD42E8-3039-47BC-901F-B27A758BA27D}" type="datetimeFigureOut">
              <a:rPr lang="en-IN" smtClean="0"/>
              <a:t>18-12-2024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C7AA3-843B-460B-AAC8-E83FEB1A8833}" type="slidenum">
              <a:rPr lang="en-IN" smtClean="0"/>
              <a:t>‹#›</a:t>
            </a:fld>
            <a:endParaRPr lang="en-IN"/>
          </a:p>
        </p:txBody>
      </p:sp>
    </p:spTree>
    <p:extLst>
      <p:ext uri="{BB962C8B-B14F-4D97-AF65-F5344CB8AC3E}">
        <p14:creationId xmlns:p14="http://schemas.microsoft.com/office/powerpoint/2010/main" val="281136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D0CD42E8-3039-47BC-901F-B27A758BA27D}" type="datetimeFigureOut">
              <a:rPr lang="en-IN" smtClean="0"/>
              <a:t>18-12-2024</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1CC7AA3-843B-460B-AAC8-E83FEB1A8833}" type="slidenum">
              <a:rPr lang="en-IN" smtClean="0"/>
              <a:t>‹#›</a:t>
            </a:fld>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307756534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09B0-41E3-500C-32BD-9522ABE28E6D}"/>
              </a:ext>
            </a:extLst>
          </p:cNvPr>
          <p:cNvSpPr>
            <a:spLocks noGrp="1"/>
          </p:cNvSpPr>
          <p:nvPr>
            <p:ph type="ctrTitle"/>
          </p:nvPr>
        </p:nvSpPr>
        <p:spPr/>
        <p:txBody>
          <a:bodyPr/>
          <a:lstStyle/>
          <a:p>
            <a:r>
              <a:rPr lang="fr-FR" sz="4800" dirty="0" err="1"/>
              <a:t>Sliding</a:t>
            </a:r>
            <a:r>
              <a:rPr lang="fr-FR" sz="4800" dirty="0"/>
              <a:t> </a:t>
            </a:r>
            <a:r>
              <a:rPr lang="fr-FR" sz="4800" dirty="0" err="1"/>
              <a:t>window</a:t>
            </a:r>
            <a:r>
              <a:rPr lang="fr-FR" sz="4800" dirty="0"/>
              <a:t> </a:t>
            </a:r>
            <a:r>
              <a:rPr lang="fr-FR" sz="4800" dirty="0" err="1"/>
              <a:t>object</a:t>
            </a:r>
            <a:r>
              <a:rPr lang="fr-FR" sz="4800" dirty="0"/>
              <a:t> </a:t>
            </a:r>
            <a:r>
              <a:rPr lang="fr-FR" sz="4800" dirty="0" err="1"/>
              <a:t>detection</a:t>
            </a:r>
            <a:endParaRPr lang="en-IN" sz="4800" dirty="0"/>
          </a:p>
        </p:txBody>
      </p:sp>
      <p:sp>
        <p:nvSpPr>
          <p:cNvPr id="3" name="Subtitle 2">
            <a:extLst>
              <a:ext uri="{FF2B5EF4-FFF2-40B4-BE49-F238E27FC236}">
                <a16:creationId xmlns:a16="http://schemas.microsoft.com/office/drawing/2014/main" id="{7F4B51DB-5D03-FDF2-D8AA-5DD89B4F5696}"/>
              </a:ext>
            </a:extLst>
          </p:cNvPr>
          <p:cNvSpPr>
            <a:spLocks noGrp="1"/>
          </p:cNvSpPr>
          <p:nvPr>
            <p:ph type="subTitle" idx="1"/>
          </p:nvPr>
        </p:nvSpPr>
        <p:spPr/>
        <p:txBody>
          <a:bodyPr/>
          <a:lstStyle/>
          <a:p>
            <a:r>
              <a:rPr lang="en-US" dirty="0"/>
              <a:t>Deep Learning</a:t>
            </a:r>
            <a:endParaRPr lang="en-IN" dirty="0"/>
          </a:p>
        </p:txBody>
      </p:sp>
    </p:spTree>
    <p:extLst>
      <p:ext uri="{BB962C8B-B14F-4D97-AF65-F5344CB8AC3E}">
        <p14:creationId xmlns:p14="http://schemas.microsoft.com/office/powerpoint/2010/main" val="2571464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82766-B796-3092-9798-FA39778D6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86EC0-1753-21E7-93C6-582A8E6D5C95}"/>
              </a:ext>
            </a:extLst>
          </p:cNvPr>
          <p:cNvSpPr>
            <a:spLocks noGrp="1"/>
          </p:cNvSpPr>
          <p:nvPr>
            <p:ph type="title"/>
          </p:nvPr>
        </p:nvSpPr>
        <p:spPr>
          <a:xfrm>
            <a:off x="621792" y="448630"/>
            <a:ext cx="10936224" cy="1122198"/>
          </a:xfrm>
        </p:spPr>
        <p:txBody>
          <a:bodyPr>
            <a:normAutofit/>
          </a:bodyPr>
          <a:lstStyle/>
          <a:p>
            <a:r>
              <a:rPr lang="en-US" dirty="0"/>
              <a:t>Sliding Window Object Detection</a:t>
            </a:r>
            <a:endParaRPr lang="en-IN" dirty="0"/>
          </a:p>
        </p:txBody>
      </p:sp>
      <p:pic>
        <p:nvPicPr>
          <p:cNvPr id="1026" name="Picture 2">
            <a:extLst>
              <a:ext uri="{FF2B5EF4-FFF2-40B4-BE49-F238E27FC236}">
                <a16:creationId xmlns:a16="http://schemas.microsoft.com/office/drawing/2014/main" id="{6B3D7955-7D83-0427-312C-C7479F4184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93392" y="1487996"/>
            <a:ext cx="7196328" cy="4797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177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9267-03B2-51FA-378D-FD6996D10FCA}"/>
              </a:ext>
            </a:extLst>
          </p:cNvPr>
          <p:cNvSpPr>
            <a:spLocks noGrp="1"/>
          </p:cNvSpPr>
          <p:nvPr>
            <p:ph type="title"/>
          </p:nvPr>
        </p:nvSpPr>
        <p:spPr>
          <a:xfrm>
            <a:off x="621792" y="642594"/>
            <a:ext cx="10936224" cy="1122198"/>
          </a:xfrm>
        </p:spPr>
        <p:txBody>
          <a:bodyPr>
            <a:normAutofit/>
          </a:bodyPr>
          <a:lstStyle/>
          <a:p>
            <a:r>
              <a:rPr lang="fr-FR" dirty="0"/>
              <a:t>O</a:t>
            </a:r>
            <a:r>
              <a:rPr lang="fr-FR" sz="4800" dirty="0"/>
              <a:t>bject </a:t>
            </a:r>
            <a:r>
              <a:rPr lang="fr-FR" dirty="0" err="1"/>
              <a:t>D</a:t>
            </a:r>
            <a:r>
              <a:rPr lang="fr-FR" sz="4800" dirty="0" err="1"/>
              <a:t>etection</a:t>
            </a:r>
            <a:r>
              <a:rPr lang="fr-FR" sz="4800" dirty="0"/>
              <a:t> Model</a:t>
            </a:r>
            <a:endParaRPr lang="en-IN" dirty="0"/>
          </a:p>
        </p:txBody>
      </p:sp>
      <p:sp>
        <p:nvSpPr>
          <p:cNvPr id="3" name="Content Placeholder 2">
            <a:extLst>
              <a:ext uri="{FF2B5EF4-FFF2-40B4-BE49-F238E27FC236}">
                <a16:creationId xmlns:a16="http://schemas.microsoft.com/office/drawing/2014/main" id="{D7AB871E-9BC4-F160-E360-0226A1C69610}"/>
              </a:ext>
            </a:extLst>
          </p:cNvPr>
          <p:cNvSpPr>
            <a:spLocks noGrp="1"/>
          </p:cNvSpPr>
          <p:nvPr>
            <p:ph idx="1"/>
          </p:nvPr>
        </p:nvSpPr>
        <p:spPr>
          <a:xfrm>
            <a:off x="621792" y="1911096"/>
            <a:ext cx="10936224" cy="4304310"/>
          </a:xfrm>
        </p:spPr>
        <p:txBody>
          <a:bodyPr>
            <a:normAutofit/>
          </a:bodyPr>
          <a:lstStyle/>
          <a:p>
            <a:pPr algn="just"/>
            <a:r>
              <a:rPr lang="en-US" sz="2400" b="1" dirty="0"/>
              <a:t>Input : </a:t>
            </a:r>
            <a:r>
              <a:rPr lang="en-US" sz="2400" dirty="0"/>
              <a:t>Image (with or without objects present)</a:t>
            </a:r>
          </a:p>
          <a:p>
            <a:pPr algn="just"/>
            <a:r>
              <a:rPr lang="en-US" sz="2400" b="1" dirty="0"/>
              <a:t>Output : </a:t>
            </a:r>
            <a:r>
              <a:rPr lang="en-US" sz="2400" dirty="0"/>
              <a:t>If objects present, list the object location (bounding box co-ordinates) and corresponding object class.</a:t>
            </a:r>
            <a:endParaRPr lang="en-IN" sz="2400" dirty="0"/>
          </a:p>
        </p:txBody>
      </p:sp>
      <p:pic>
        <p:nvPicPr>
          <p:cNvPr id="2050" name="Picture 2">
            <a:extLst>
              <a:ext uri="{FF2B5EF4-FFF2-40B4-BE49-F238E27FC236}">
                <a16:creationId xmlns:a16="http://schemas.microsoft.com/office/drawing/2014/main" id="{280AD08B-AB29-00B9-C894-74A42F7CE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7871" y="3342504"/>
            <a:ext cx="8021193" cy="2803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963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8C36B-6858-E109-1493-4327A96D6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9BBD8-0965-5F09-0591-8D10A1220483}"/>
              </a:ext>
            </a:extLst>
          </p:cNvPr>
          <p:cNvSpPr>
            <a:spLocks noGrp="1"/>
          </p:cNvSpPr>
          <p:nvPr>
            <p:ph type="title"/>
          </p:nvPr>
        </p:nvSpPr>
        <p:spPr>
          <a:xfrm>
            <a:off x="621792" y="642594"/>
            <a:ext cx="10936224" cy="1122198"/>
          </a:xfrm>
        </p:spPr>
        <p:txBody>
          <a:bodyPr>
            <a:normAutofit fontScale="90000"/>
          </a:bodyPr>
          <a:lstStyle/>
          <a:p>
            <a:r>
              <a:rPr lang="en-US" dirty="0"/>
              <a:t>Basic Concept of Object Detection Idea : Sliding Window Object Detection</a:t>
            </a:r>
            <a:endParaRPr lang="en-IN" dirty="0"/>
          </a:p>
        </p:txBody>
      </p:sp>
      <p:pic>
        <p:nvPicPr>
          <p:cNvPr id="30722" name="Picture 2">
            <a:extLst>
              <a:ext uri="{FF2B5EF4-FFF2-40B4-BE49-F238E27FC236}">
                <a16:creationId xmlns:a16="http://schemas.microsoft.com/office/drawing/2014/main" id="{848AD93D-347D-1DD0-B206-582B2106A67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62482" y="1828800"/>
            <a:ext cx="5063905" cy="37764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1584A1F-DD2C-72DB-7FC6-356269D44507}"/>
              </a:ext>
            </a:extLst>
          </p:cNvPr>
          <p:cNvSpPr txBox="1"/>
          <p:nvPr/>
        </p:nvSpPr>
        <p:spPr>
          <a:xfrm>
            <a:off x="484632" y="1883664"/>
            <a:ext cx="6094476" cy="3477875"/>
          </a:xfrm>
          <a:prstGeom prst="rect">
            <a:avLst/>
          </a:prstGeom>
          <a:noFill/>
        </p:spPr>
        <p:txBody>
          <a:bodyPr wrap="square">
            <a:spAutoFit/>
          </a:bodyPr>
          <a:lstStyle/>
          <a:p>
            <a:pPr marL="342900" indent="-342900" algn="just">
              <a:lnSpc>
                <a:spcPts val="2400"/>
              </a:lnSpc>
              <a:buFont typeface="Arial" panose="020B0604020202020204" pitchFamily="34" charset="0"/>
              <a:buChar char="•"/>
            </a:pPr>
            <a:r>
              <a:rPr lang="en-US" sz="2000" dirty="0">
                <a:solidFill>
                  <a:srgbClr val="242424"/>
                </a:solidFill>
                <a:latin typeface="+mj-lt"/>
              </a:rPr>
              <a:t>T</a:t>
            </a:r>
            <a:r>
              <a:rPr lang="en-US" sz="2000" b="0" i="0" dirty="0">
                <a:solidFill>
                  <a:srgbClr val="242424"/>
                </a:solidFill>
                <a:effectLst/>
                <a:latin typeface="+mj-lt"/>
              </a:rPr>
              <a:t>he idea is to crop the image into multiple segment/grids and run image classification for each cropped images to determine if there is an object present in this cropped image or not. </a:t>
            </a:r>
          </a:p>
          <a:p>
            <a:pPr marL="342900" indent="-342900" algn="just">
              <a:lnSpc>
                <a:spcPts val="2400"/>
              </a:lnSpc>
              <a:buFont typeface="Arial" panose="020B0604020202020204" pitchFamily="34" charset="0"/>
              <a:buChar char="•"/>
            </a:pPr>
            <a:r>
              <a:rPr lang="en-US" sz="2000" b="0" i="0" dirty="0">
                <a:solidFill>
                  <a:srgbClr val="242424"/>
                </a:solidFill>
                <a:effectLst/>
                <a:latin typeface="+mj-lt"/>
              </a:rPr>
              <a:t>We can choose a rectangular region with fixed length and fixed height, that will ‘slide’ across left to right and top to bottom, and each time the cropped image will pass to a pre-trained image classifier, that algorithm is called ‘sliding window approach for object detection’.</a:t>
            </a:r>
          </a:p>
          <a:p>
            <a:pPr algn="just"/>
            <a:br>
              <a:rPr lang="en-US" sz="2000" dirty="0">
                <a:latin typeface="+mj-lt"/>
              </a:rPr>
            </a:br>
            <a:endParaRPr lang="en-IN" sz="2000" dirty="0">
              <a:latin typeface="+mj-lt"/>
            </a:endParaRPr>
          </a:p>
        </p:txBody>
      </p:sp>
    </p:spTree>
    <p:extLst>
      <p:ext uri="{BB962C8B-B14F-4D97-AF65-F5344CB8AC3E}">
        <p14:creationId xmlns:p14="http://schemas.microsoft.com/office/powerpoint/2010/main" val="2413207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CB9FD-7C2E-8961-1CE6-582F6AFB8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FF0BC-3589-3D2E-6390-6A95BAFDEBE4}"/>
              </a:ext>
            </a:extLst>
          </p:cNvPr>
          <p:cNvSpPr>
            <a:spLocks noGrp="1"/>
          </p:cNvSpPr>
          <p:nvPr>
            <p:ph type="title"/>
          </p:nvPr>
        </p:nvSpPr>
        <p:spPr>
          <a:xfrm>
            <a:off x="621792" y="642594"/>
            <a:ext cx="10936224" cy="1122198"/>
          </a:xfrm>
        </p:spPr>
        <p:txBody>
          <a:bodyPr>
            <a:normAutofit fontScale="90000"/>
          </a:bodyPr>
          <a:lstStyle/>
          <a:p>
            <a:r>
              <a:rPr lang="en-US" dirty="0"/>
              <a:t>Steps for Object Detection Sliding Window Approach </a:t>
            </a:r>
            <a:endParaRPr lang="en-IN" dirty="0"/>
          </a:p>
        </p:txBody>
      </p:sp>
      <p:sp>
        <p:nvSpPr>
          <p:cNvPr id="3" name="Content Placeholder 2">
            <a:extLst>
              <a:ext uri="{FF2B5EF4-FFF2-40B4-BE49-F238E27FC236}">
                <a16:creationId xmlns:a16="http://schemas.microsoft.com/office/drawing/2014/main" id="{8DFB02ED-D0EB-FCCE-D9BB-A1A1937166D5}"/>
              </a:ext>
            </a:extLst>
          </p:cNvPr>
          <p:cNvSpPr>
            <a:spLocks noGrp="1"/>
          </p:cNvSpPr>
          <p:nvPr>
            <p:ph idx="1"/>
          </p:nvPr>
        </p:nvSpPr>
        <p:spPr>
          <a:xfrm>
            <a:off x="621792" y="1911096"/>
            <a:ext cx="10936224" cy="4304310"/>
          </a:xfrm>
        </p:spPr>
        <p:txBody>
          <a:bodyPr numCol="2">
            <a:normAutofit/>
          </a:bodyPr>
          <a:lstStyle/>
          <a:p>
            <a:pPr algn="just"/>
            <a:r>
              <a:rPr lang="en-US" sz="2400" dirty="0"/>
              <a:t>Consider an image as input.</a:t>
            </a:r>
          </a:p>
          <a:p>
            <a:pPr algn="just"/>
            <a:r>
              <a:rPr lang="en-US" sz="2400" dirty="0"/>
              <a:t>Select a window size (preferably much smaller than the actual image size).</a:t>
            </a:r>
          </a:p>
          <a:p>
            <a:pPr algn="just"/>
            <a:r>
              <a:rPr lang="en-US" sz="2400" dirty="0"/>
              <a:t>Crop image as window set on actual image, and pass that cropped image portion to the image classifier and have the prediction output for that region.</a:t>
            </a:r>
          </a:p>
          <a:p>
            <a:pPr algn="just"/>
            <a:r>
              <a:rPr lang="en-US" sz="2400" dirty="0"/>
              <a:t>Keep on sliding the window and pass the cropped images into image classifier.</a:t>
            </a:r>
          </a:p>
          <a:p>
            <a:pPr algn="just"/>
            <a:r>
              <a:rPr lang="en-US" sz="2400" dirty="0"/>
              <a:t>At the end, there will be a set of cropped regions which have some classified object.</a:t>
            </a:r>
            <a:endParaRPr lang="en-IN" sz="2400" dirty="0"/>
          </a:p>
        </p:txBody>
      </p:sp>
      <p:pic>
        <p:nvPicPr>
          <p:cNvPr id="29698" name="Picture 2">
            <a:extLst>
              <a:ext uri="{FF2B5EF4-FFF2-40B4-BE49-F238E27FC236}">
                <a16:creationId xmlns:a16="http://schemas.microsoft.com/office/drawing/2014/main" id="{4F9C24C8-D064-C0B3-DD86-4788E9C7D2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9888" y="2329335"/>
            <a:ext cx="4079176" cy="30739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43516DE-DDBD-13D4-A63B-A5CB59E2A1E8}"/>
              </a:ext>
            </a:extLst>
          </p:cNvPr>
          <p:cNvSpPr txBox="1"/>
          <p:nvPr/>
        </p:nvSpPr>
        <p:spPr>
          <a:xfrm>
            <a:off x="5637276" y="2971800"/>
            <a:ext cx="914400" cy="9144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4D7340D-AF32-37C9-940A-5FB5BFAB6A88}"/>
              </a:ext>
            </a:extLst>
          </p:cNvPr>
          <p:cNvSpPr txBox="1"/>
          <p:nvPr/>
        </p:nvSpPr>
        <p:spPr>
          <a:xfrm>
            <a:off x="6926580" y="5515465"/>
            <a:ext cx="4009644" cy="369332"/>
          </a:xfrm>
          <a:prstGeom prst="rect">
            <a:avLst/>
          </a:prstGeom>
          <a:noFill/>
        </p:spPr>
        <p:txBody>
          <a:bodyPr wrap="square" rtlCol="0">
            <a:spAutoFit/>
          </a:bodyPr>
          <a:lstStyle/>
          <a:p>
            <a:r>
              <a:rPr lang="en-US" b="0" i="0" dirty="0">
                <a:effectLst/>
                <a:latin typeface="Bookman Old Style" panose="02050604050505020204" pitchFamily="18" charset="0"/>
              </a:rPr>
              <a:t>Cat face detected on the window</a:t>
            </a:r>
            <a:endParaRPr lang="en-IN" dirty="0">
              <a:latin typeface="Bookman Old Style" panose="02050604050505020204" pitchFamily="18" charset="0"/>
            </a:endParaRPr>
          </a:p>
        </p:txBody>
      </p:sp>
    </p:spTree>
    <p:extLst>
      <p:ext uri="{BB962C8B-B14F-4D97-AF65-F5344CB8AC3E}">
        <p14:creationId xmlns:p14="http://schemas.microsoft.com/office/powerpoint/2010/main" val="1475044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FDE9B-66F1-AC50-78A4-FD2865946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65FEB-68FE-F85F-AD49-822E8F3CB787}"/>
              </a:ext>
            </a:extLst>
          </p:cNvPr>
          <p:cNvSpPr>
            <a:spLocks noGrp="1"/>
          </p:cNvSpPr>
          <p:nvPr>
            <p:ph type="title"/>
          </p:nvPr>
        </p:nvSpPr>
        <p:spPr>
          <a:xfrm>
            <a:off x="621792" y="642594"/>
            <a:ext cx="10936224" cy="1122198"/>
          </a:xfrm>
        </p:spPr>
        <p:txBody>
          <a:bodyPr>
            <a:normAutofit fontScale="90000"/>
          </a:bodyPr>
          <a:lstStyle/>
          <a:p>
            <a:r>
              <a:rPr lang="en-US" dirty="0"/>
              <a:t>Inaccurate Bounding Box for the detected object</a:t>
            </a:r>
            <a:endParaRPr lang="en-IN" dirty="0"/>
          </a:p>
        </p:txBody>
      </p:sp>
      <p:pic>
        <p:nvPicPr>
          <p:cNvPr id="28674" name="Picture 2">
            <a:extLst>
              <a:ext uri="{FF2B5EF4-FFF2-40B4-BE49-F238E27FC236}">
                <a16:creationId xmlns:a16="http://schemas.microsoft.com/office/drawing/2014/main" id="{6900E408-428E-ADDE-D393-5BD5EEC29BC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5416" y="1840070"/>
            <a:ext cx="7927848" cy="45698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53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EFADB-B3B5-80CB-2CAA-6FDF0E975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E7EBE-D934-5C29-2F60-70FF20EF7FBE}"/>
              </a:ext>
            </a:extLst>
          </p:cNvPr>
          <p:cNvSpPr>
            <a:spLocks noGrp="1"/>
          </p:cNvSpPr>
          <p:nvPr>
            <p:ph type="ctrTitle"/>
          </p:nvPr>
        </p:nvSpPr>
        <p:spPr/>
        <p:txBody>
          <a:bodyPr/>
          <a:lstStyle/>
          <a:p>
            <a:r>
              <a:rPr lang="en-US" sz="4800" dirty="0"/>
              <a:t>R-CNN – Region-Based Convolutional Neural Networks</a:t>
            </a:r>
            <a:endParaRPr lang="en-IN" sz="4800" dirty="0"/>
          </a:p>
        </p:txBody>
      </p:sp>
      <p:sp>
        <p:nvSpPr>
          <p:cNvPr id="3" name="Subtitle 2">
            <a:extLst>
              <a:ext uri="{FF2B5EF4-FFF2-40B4-BE49-F238E27FC236}">
                <a16:creationId xmlns:a16="http://schemas.microsoft.com/office/drawing/2014/main" id="{5A089AB5-ACD4-5410-8563-A1C94BBD048D}"/>
              </a:ext>
            </a:extLst>
          </p:cNvPr>
          <p:cNvSpPr>
            <a:spLocks noGrp="1"/>
          </p:cNvSpPr>
          <p:nvPr>
            <p:ph type="subTitle" idx="1"/>
          </p:nvPr>
        </p:nvSpPr>
        <p:spPr/>
        <p:txBody>
          <a:bodyPr/>
          <a:lstStyle/>
          <a:p>
            <a:r>
              <a:rPr lang="en-US" dirty="0"/>
              <a:t>Deep Learning</a:t>
            </a:r>
            <a:endParaRPr lang="en-IN" dirty="0"/>
          </a:p>
        </p:txBody>
      </p:sp>
    </p:spTree>
    <p:extLst>
      <p:ext uri="{BB962C8B-B14F-4D97-AF65-F5344CB8AC3E}">
        <p14:creationId xmlns:p14="http://schemas.microsoft.com/office/powerpoint/2010/main" val="2222652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6020-55A2-0439-363E-4347B2AA4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BF727-5D65-C95A-2DE4-1DB8D766C2CA}"/>
              </a:ext>
            </a:extLst>
          </p:cNvPr>
          <p:cNvSpPr>
            <a:spLocks noGrp="1"/>
          </p:cNvSpPr>
          <p:nvPr>
            <p:ph type="title"/>
          </p:nvPr>
        </p:nvSpPr>
        <p:spPr>
          <a:xfrm>
            <a:off x="621792" y="642594"/>
            <a:ext cx="10936224" cy="1122198"/>
          </a:xfrm>
        </p:spPr>
        <p:txBody>
          <a:bodyPr>
            <a:normAutofit/>
          </a:bodyPr>
          <a:lstStyle/>
          <a:p>
            <a:r>
              <a:rPr lang="en-US" dirty="0"/>
              <a:t>Introduction to R-CNN</a:t>
            </a:r>
            <a:endParaRPr lang="en-IN" dirty="0"/>
          </a:p>
        </p:txBody>
      </p:sp>
      <p:sp>
        <p:nvSpPr>
          <p:cNvPr id="3" name="Content Placeholder 2">
            <a:extLst>
              <a:ext uri="{FF2B5EF4-FFF2-40B4-BE49-F238E27FC236}">
                <a16:creationId xmlns:a16="http://schemas.microsoft.com/office/drawing/2014/main" id="{ED1ABE99-028C-160E-B935-227B1929A18B}"/>
              </a:ext>
            </a:extLst>
          </p:cNvPr>
          <p:cNvSpPr>
            <a:spLocks noGrp="1"/>
          </p:cNvSpPr>
          <p:nvPr>
            <p:ph idx="1"/>
          </p:nvPr>
        </p:nvSpPr>
        <p:spPr>
          <a:xfrm>
            <a:off x="621792" y="1911096"/>
            <a:ext cx="10936224" cy="4304310"/>
          </a:xfrm>
        </p:spPr>
        <p:txBody>
          <a:bodyPr>
            <a:normAutofit/>
          </a:bodyPr>
          <a:lstStyle/>
          <a:p>
            <a:pPr algn="just"/>
            <a:r>
              <a:rPr lang="en-US" sz="2400" dirty="0"/>
              <a:t>R-CNN (</a:t>
            </a:r>
            <a:r>
              <a:rPr lang="en-US" sz="2400" b="1" dirty="0"/>
              <a:t>Region-based Convolutional Neural Network) was </a:t>
            </a:r>
            <a:r>
              <a:rPr lang="en-US" sz="2400" dirty="0"/>
              <a:t>introduced by Ross </a:t>
            </a:r>
            <a:r>
              <a:rPr lang="en-US" sz="2400" dirty="0" err="1"/>
              <a:t>Girshick</a:t>
            </a:r>
            <a:r>
              <a:rPr lang="en-US" sz="2400" dirty="0"/>
              <a:t> et al. in 2014. </a:t>
            </a:r>
          </a:p>
          <a:p>
            <a:pPr algn="just"/>
            <a:r>
              <a:rPr lang="en-US" sz="2400" dirty="0"/>
              <a:t>R-CNN revolutionized object detection by combining the strengths of region proposal algorithms and deep learning, leading to remarkable improvements in detection accuracy and efficiency.</a:t>
            </a:r>
          </a:p>
          <a:p>
            <a:pPr algn="just"/>
            <a:r>
              <a:rPr lang="en-US" sz="2400" dirty="0"/>
              <a:t>This approach utilizes a </a:t>
            </a:r>
            <a:r>
              <a:rPr lang="en-US" sz="2400" b="1" dirty="0"/>
              <a:t>selective search algorithm </a:t>
            </a:r>
            <a:r>
              <a:rPr lang="en-US" sz="2400" dirty="0"/>
              <a:t>to generate approximately 2,000 region proposals, which are then processed through a Convolutional Neural Network (</a:t>
            </a:r>
            <a:r>
              <a:rPr lang="en-US" sz="2400" b="1" dirty="0"/>
              <a:t>CNN</a:t>
            </a:r>
            <a:r>
              <a:rPr lang="en-US" sz="2400" dirty="0"/>
              <a:t>) to extract features. </a:t>
            </a:r>
          </a:p>
          <a:p>
            <a:pPr algn="just"/>
            <a:r>
              <a:rPr lang="en-US" sz="2400" dirty="0"/>
              <a:t>These </a:t>
            </a:r>
            <a:r>
              <a:rPr lang="en-US" sz="2400" b="1" dirty="0"/>
              <a:t>features are classified using a Support Vector Machine (SVM),</a:t>
            </a:r>
            <a:r>
              <a:rPr lang="en-US" sz="2400" dirty="0"/>
              <a:t> while a bounding box regressor is employed to improve localization accuracy.</a:t>
            </a:r>
            <a:endParaRPr lang="en-IN" sz="2400" dirty="0"/>
          </a:p>
        </p:txBody>
      </p:sp>
    </p:spTree>
    <p:extLst>
      <p:ext uri="{BB962C8B-B14F-4D97-AF65-F5344CB8AC3E}">
        <p14:creationId xmlns:p14="http://schemas.microsoft.com/office/powerpoint/2010/main" val="909857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844C0-5425-304B-0A7D-E8056E1584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EFCEF-07F6-3033-DEE6-8F5F531F0784}"/>
              </a:ext>
            </a:extLst>
          </p:cNvPr>
          <p:cNvSpPr>
            <a:spLocks noGrp="1"/>
          </p:cNvSpPr>
          <p:nvPr>
            <p:ph type="title"/>
          </p:nvPr>
        </p:nvSpPr>
        <p:spPr>
          <a:xfrm>
            <a:off x="621792" y="642594"/>
            <a:ext cx="10936224" cy="1122198"/>
          </a:xfrm>
        </p:spPr>
        <p:txBody>
          <a:bodyPr>
            <a:normAutofit/>
          </a:bodyPr>
          <a:lstStyle/>
          <a:p>
            <a:r>
              <a:rPr lang="en-US" dirty="0"/>
              <a:t>R-CNN</a:t>
            </a:r>
            <a:endParaRPr lang="en-IN" dirty="0"/>
          </a:p>
        </p:txBody>
      </p:sp>
      <p:sp>
        <p:nvSpPr>
          <p:cNvPr id="3" name="Content Placeholder 2">
            <a:extLst>
              <a:ext uri="{FF2B5EF4-FFF2-40B4-BE49-F238E27FC236}">
                <a16:creationId xmlns:a16="http://schemas.microsoft.com/office/drawing/2014/main" id="{FE3A1028-BF03-85E4-95B2-3DD99271B9FF}"/>
              </a:ext>
            </a:extLst>
          </p:cNvPr>
          <p:cNvSpPr>
            <a:spLocks noGrp="1"/>
          </p:cNvSpPr>
          <p:nvPr>
            <p:ph idx="1"/>
          </p:nvPr>
        </p:nvSpPr>
        <p:spPr>
          <a:xfrm>
            <a:off x="621792" y="1911096"/>
            <a:ext cx="10936224" cy="4304310"/>
          </a:xfrm>
        </p:spPr>
        <p:txBody>
          <a:bodyPr>
            <a:normAutofit/>
          </a:bodyPr>
          <a:lstStyle/>
          <a:p>
            <a:pPr algn="just"/>
            <a:r>
              <a:rPr lang="en-US" sz="2400" dirty="0"/>
              <a:t>R-CNN identifies and localizes objects in images by proposing Regions of Interest (</a:t>
            </a:r>
            <a:r>
              <a:rPr lang="en-US" sz="2400" dirty="0" err="1"/>
              <a:t>RoIs</a:t>
            </a:r>
            <a:r>
              <a:rPr lang="en-US" sz="2400" dirty="0"/>
              <a:t>) and classifying them through the CNN. </a:t>
            </a:r>
          </a:p>
          <a:p>
            <a:pPr algn="just"/>
            <a:r>
              <a:rPr lang="en-US" sz="2400" dirty="0"/>
              <a:t>The object detection framework starts with an input image containing potential objects and employs a Region Proposal Network (RPN), like Selective Search, to generate bounding boxes likely to contain objects.</a:t>
            </a:r>
          </a:p>
          <a:p>
            <a:pPr algn="just"/>
            <a:r>
              <a:rPr lang="en-US" sz="2400" dirty="0"/>
              <a:t>Each proposed region is resized and fed into a pre-trained CNN, such as </a:t>
            </a:r>
            <a:r>
              <a:rPr lang="en-US" sz="2400" dirty="0" err="1"/>
              <a:t>AlexNet</a:t>
            </a:r>
            <a:r>
              <a:rPr lang="en-US" sz="2400" dirty="0"/>
              <a:t> or VGG16, to extract feature representations. </a:t>
            </a:r>
          </a:p>
          <a:p>
            <a:pPr algn="just"/>
            <a:r>
              <a:rPr lang="en-US" sz="2400" dirty="0"/>
              <a:t>These features are then classified by the SVM into predefined categories or designated as background. To refine localization further, a bounding box regression model adjusts the coordinates of each box, aligning them more closely with the actual object boundaries.</a:t>
            </a:r>
            <a:endParaRPr lang="en-IN" sz="2400" dirty="0"/>
          </a:p>
        </p:txBody>
      </p:sp>
    </p:spTree>
    <p:extLst>
      <p:ext uri="{BB962C8B-B14F-4D97-AF65-F5344CB8AC3E}">
        <p14:creationId xmlns:p14="http://schemas.microsoft.com/office/powerpoint/2010/main" val="2944310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3D26D-5177-D4CB-EF77-03DD610135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0E5A7-901F-9859-70A6-9C49AE0C7A99}"/>
              </a:ext>
            </a:extLst>
          </p:cNvPr>
          <p:cNvSpPr>
            <a:spLocks noGrp="1"/>
          </p:cNvSpPr>
          <p:nvPr>
            <p:ph type="title"/>
          </p:nvPr>
        </p:nvSpPr>
        <p:spPr>
          <a:xfrm>
            <a:off x="621792" y="642594"/>
            <a:ext cx="10936224" cy="1122198"/>
          </a:xfrm>
        </p:spPr>
        <p:txBody>
          <a:bodyPr>
            <a:normAutofit/>
          </a:bodyPr>
          <a:lstStyle/>
          <a:p>
            <a:r>
              <a:rPr lang="en-US" dirty="0"/>
              <a:t>R-CNN architecture</a:t>
            </a:r>
            <a:endParaRPr lang="en-IN" dirty="0"/>
          </a:p>
        </p:txBody>
      </p:sp>
      <p:pic>
        <p:nvPicPr>
          <p:cNvPr id="26626" name="Picture 2" descr="R-CNN architecture">
            <a:extLst>
              <a:ext uri="{FF2B5EF4-FFF2-40B4-BE49-F238E27FC236}">
                <a16:creationId xmlns:a16="http://schemas.microsoft.com/office/drawing/2014/main" id="{6A073494-825E-401C-4AFE-5FE40F02BF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7333" y="1906949"/>
            <a:ext cx="10811341" cy="33947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9462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E6B98-9EB2-5AD8-9C35-4E45E699D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D67E3-7B9F-F09A-98E2-7149DCD020D1}"/>
              </a:ext>
            </a:extLst>
          </p:cNvPr>
          <p:cNvSpPr>
            <a:spLocks noGrp="1"/>
          </p:cNvSpPr>
          <p:nvPr>
            <p:ph type="title"/>
          </p:nvPr>
        </p:nvSpPr>
        <p:spPr>
          <a:xfrm>
            <a:off x="621792" y="642594"/>
            <a:ext cx="10936224" cy="1122198"/>
          </a:xfrm>
        </p:spPr>
        <p:txBody>
          <a:bodyPr>
            <a:normAutofit/>
          </a:bodyPr>
          <a:lstStyle/>
          <a:p>
            <a:r>
              <a:rPr lang="en-IN" dirty="0"/>
              <a:t>Region Proposals</a:t>
            </a:r>
          </a:p>
        </p:txBody>
      </p:sp>
      <p:pic>
        <p:nvPicPr>
          <p:cNvPr id="24578" name="Picture 2">
            <a:extLst>
              <a:ext uri="{FF2B5EF4-FFF2-40B4-BE49-F238E27FC236}">
                <a16:creationId xmlns:a16="http://schemas.microsoft.com/office/drawing/2014/main" id="{ED69FABE-D378-80B3-855C-0D3EDDE1AA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7366" y="2107693"/>
            <a:ext cx="9248270" cy="373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856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88631-6395-FBE5-980F-26E95E47A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C0790A-10A2-6D66-2F96-61AF3FAF6DBE}"/>
              </a:ext>
            </a:extLst>
          </p:cNvPr>
          <p:cNvSpPr>
            <a:spLocks noGrp="1"/>
          </p:cNvSpPr>
          <p:nvPr>
            <p:ph type="title"/>
          </p:nvPr>
        </p:nvSpPr>
        <p:spPr>
          <a:xfrm>
            <a:off x="621792" y="642594"/>
            <a:ext cx="10936224" cy="1122198"/>
          </a:xfrm>
        </p:spPr>
        <p:txBody>
          <a:bodyPr>
            <a:normAutofit/>
          </a:bodyPr>
          <a:lstStyle/>
          <a:p>
            <a:r>
              <a:rPr lang="en-IN" dirty="0"/>
              <a:t> Selective Search</a:t>
            </a:r>
          </a:p>
        </p:txBody>
      </p:sp>
      <p:sp>
        <p:nvSpPr>
          <p:cNvPr id="3" name="Content Placeholder 2">
            <a:extLst>
              <a:ext uri="{FF2B5EF4-FFF2-40B4-BE49-F238E27FC236}">
                <a16:creationId xmlns:a16="http://schemas.microsoft.com/office/drawing/2014/main" id="{5156F0B0-F038-FB01-6138-43F4E13884AD}"/>
              </a:ext>
            </a:extLst>
          </p:cNvPr>
          <p:cNvSpPr>
            <a:spLocks noGrp="1"/>
          </p:cNvSpPr>
          <p:nvPr>
            <p:ph idx="1"/>
          </p:nvPr>
        </p:nvSpPr>
        <p:spPr>
          <a:xfrm>
            <a:off x="621792" y="1911096"/>
            <a:ext cx="10936224" cy="4304310"/>
          </a:xfrm>
        </p:spPr>
        <p:txBody>
          <a:bodyPr>
            <a:normAutofit/>
          </a:bodyPr>
          <a:lstStyle/>
          <a:p>
            <a:pPr algn="just"/>
            <a:r>
              <a:rPr lang="en-US" sz="2400" dirty="0"/>
              <a:t>Selective Search is a greedy algorithm that generates region proposals by combining smaller segmented regions.</a:t>
            </a:r>
          </a:p>
          <a:p>
            <a:pPr algn="just"/>
            <a:r>
              <a:rPr lang="en-US" sz="2400" dirty="0"/>
              <a:t>Algorithm Steps:</a:t>
            </a:r>
          </a:p>
          <a:p>
            <a:pPr marL="457200" indent="-457200" algn="just">
              <a:buFont typeface="+mj-lt"/>
              <a:buAutoNum type="arabicPeriod"/>
            </a:pPr>
            <a:r>
              <a:rPr lang="en-US" sz="2400" b="1" dirty="0"/>
              <a:t>Generate Initial Segmentation: </a:t>
            </a:r>
            <a:r>
              <a:rPr lang="en-US" sz="2400" dirty="0"/>
              <a:t>The algorithm starts by performing an initial sub-segmentation of the input image.</a:t>
            </a:r>
          </a:p>
          <a:p>
            <a:pPr marL="457200" indent="-457200" algn="just">
              <a:buFont typeface="+mj-lt"/>
              <a:buAutoNum type="arabicPeriod"/>
            </a:pPr>
            <a:r>
              <a:rPr lang="en-US" sz="2400" b="1" dirty="0"/>
              <a:t>Combine Similar Regions: </a:t>
            </a:r>
            <a:r>
              <a:rPr lang="en-US" sz="2400" dirty="0"/>
              <a:t>It then recursively combines similar bounding boxes into larger ones. Similarities are evaluated based on factors such as color, texture, and region size.</a:t>
            </a:r>
          </a:p>
          <a:p>
            <a:pPr marL="457200" indent="-457200" algn="just">
              <a:buFont typeface="+mj-lt"/>
              <a:buAutoNum type="arabicPeriod"/>
            </a:pPr>
            <a:r>
              <a:rPr lang="en-US" sz="2400" b="1" dirty="0"/>
              <a:t>Generate Region Proposals: </a:t>
            </a:r>
            <a:r>
              <a:rPr lang="en-US" sz="2400" dirty="0"/>
              <a:t>Finally, these larger bounding boxes are used to create region proposals for object detection.</a:t>
            </a:r>
            <a:endParaRPr lang="en-IN" sz="2400" dirty="0"/>
          </a:p>
        </p:txBody>
      </p:sp>
    </p:spTree>
    <p:extLst>
      <p:ext uri="{BB962C8B-B14F-4D97-AF65-F5344CB8AC3E}">
        <p14:creationId xmlns:p14="http://schemas.microsoft.com/office/powerpoint/2010/main" val="1663932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3BC3F-F410-1978-9525-1811DA5F6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85FE3-FD35-D173-31D6-96A1C3AD9E73}"/>
              </a:ext>
            </a:extLst>
          </p:cNvPr>
          <p:cNvSpPr>
            <a:spLocks noGrp="1"/>
          </p:cNvSpPr>
          <p:nvPr>
            <p:ph type="title"/>
          </p:nvPr>
        </p:nvSpPr>
        <p:spPr>
          <a:xfrm>
            <a:off x="621792" y="642594"/>
            <a:ext cx="10936224" cy="1122198"/>
          </a:xfrm>
        </p:spPr>
        <p:txBody>
          <a:bodyPr>
            <a:normAutofit/>
          </a:bodyPr>
          <a:lstStyle/>
          <a:p>
            <a:r>
              <a:rPr lang="en-IN" dirty="0"/>
              <a:t>Input Preparation in R-CNN</a:t>
            </a:r>
          </a:p>
        </p:txBody>
      </p:sp>
      <p:sp>
        <p:nvSpPr>
          <p:cNvPr id="3" name="Content Placeholder 2">
            <a:extLst>
              <a:ext uri="{FF2B5EF4-FFF2-40B4-BE49-F238E27FC236}">
                <a16:creationId xmlns:a16="http://schemas.microsoft.com/office/drawing/2014/main" id="{76FAA4E6-9E7C-9178-E467-30781512503B}"/>
              </a:ext>
            </a:extLst>
          </p:cNvPr>
          <p:cNvSpPr>
            <a:spLocks noGrp="1"/>
          </p:cNvSpPr>
          <p:nvPr>
            <p:ph idx="1"/>
          </p:nvPr>
        </p:nvSpPr>
        <p:spPr>
          <a:xfrm>
            <a:off x="621792" y="1569350"/>
            <a:ext cx="10936224" cy="4304310"/>
          </a:xfrm>
        </p:spPr>
        <p:txBody>
          <a:bodyPr>
            <a:normAutofit/>
          </a:bodyPr>
          <a:lstStyle/>
          <a:p>
            <a:pPr algn="just"/>
            <a:r>
              <a:rPr lang="en-US" sz="2400" dirty="0"/>
              <a:t>After generating the region proposals, these regions are warped into a uniform square shape to match the input dimensions required by the CNN model.</a:t>
            </a:r>
          </a:p>
          <a:p>
            <a:pPr algn="just"/>
            <a:r>
              <a:rPr lang="en-US" sz="2400" dirty="0"/>
              <a:t>Pre-trained </a:t>
            </a:r>
            <a:r>
              <a:rPr lang="en-US" sz="2400" dirty="0" err="1"/>
              <a:t>AlexNet</a:t>
            </a:r>
            <a:r>
              <a:rPr lang="en-US" sz="2400" dirty="0"/>
              <a:t> model, which was considered the state-of-the-art CNN for image classification at the time.</a:t>
            </a:r>
            <a:endParaRPr lang="en-IN" sz="2400" dirty="0"/>
          </a:p>
        </p:txBody>
      </p:sp>
      <p:pic>
        <p:nvPicPr>
          <p:cNvPr id="22530" name="Picture 2">
            <a:extLst>
              <a:ext uri="{FF2B5EF4-FFF2-40B4-BE49-F238E27FC236}">
                <a16:creationId xmlns:a16="http://schemas.microsoft.com/office/drawing/2014/main" id="{5DA76212-0D0D-5F55-31A1-60CC197FAC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315" r="2843" b="7574"/>
          <a:stretch/>
        </p:blipFill>
        <p:spPr bwMode="auto">
          <a:xfrm>
            <a:off x="888758" y="3245526"/>
            <a:ext cx="10402292" cy="291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171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573F-739C-D1B9-0DA1-28C6474E6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9909B-54C8-B034-AC58-C2363E0AA07E}"/>
              </a:ext>
            </a:extLst>
          </p:cNvPr>
          <p:cNvSpPr>
            <a:spLocks noGrp="1"/>
          </p:cNvSpPr>
          <p:nvPr>
            <p:ph type="title"/>
          </p:nvPr>
        </p:nvSpPr>
        <p:spPr>
          <a:xfrm>
            <a:off x="621792" y="642594"/>
            <a:ext cx="10936224" cy="1122198"/>
          </a:xfrm>
        </p:spPr>
        <p:txBody>
          <a:bodyPr>
            <a:normAutofit/>
          </a:bodyPr>
          <a:lstStyle/>
          <a:p>
            <a:r>
              <a:rPr lang="en-IN" dirty="0"/>
              <a:t>Input Preparation in R-CNN</a:t>
            </a:r>
          </a:p>
        </p:txBody>
      </p:sp>
      <p:sp>
        <p:nvSpPr>
          <p:cNvPr id="3" name="Content Placeholder 2">
            <a:extLst>
              <a:ext uri="{FF2B5EF4-FFF2-40B4-BE49-F238E27FC236}">
                <a16:creationId xmlns:a16="http://schemas.microsoft.com/office/drawing/2014/main" id="{F4C5ADEB-23CA-0C84-80E6-AD43BF3B8715}"/>
              </a:ext>
            </a:extLst>
          </p:cNvPr>
          <p:cNvSpPr>
            <a:spLocks noGrp="1"/>
          </p:cNvSpPr>
          <p:nvPr>
            <p:ph idx="1"/>
          </p:nvPr>
        </p:nvSpPr>
        <p:spPr>
          <a:xfrm>
            <a:off x="621792" y="1911096"/>
            <a:ext cx="10936224" cy="4304310"/>
          </a:xfrm>
        </p:spPr>
        <p:txBody>
          <a:bodyPr>
            <a:normAutofit/>
          </a:bodyPr>
          <a:lstStyle/>
          <a:p>
            <a:pPr algn="just"/>
            <a:r>
              <a:rPr lang="en-US" sz="2400" dirty="0"/>
              <a:t>The </a:t>
            </a:r>
            <a:r>
              <a:rPr lang="en-US" sz="2400" b="1" dirty="0"/>
              <a:t>input size for </a:t>
            </a:r>
            <a:r>
              <a:rPr lang="en-US" sz="2400" b="1" dirty="0" err="1"/>
              <a:t>AlexNet</a:t>
            </a:r>
            <a:r>
              <a:rPr lang="en-US" sz="2400" b="1" dirty="0"/>
              <a:t> is (227, 227, 3), </a:t>
            </a:r>
            <a:r>
              <a:rPr lang="en-US" sz="2400" dirty="0"/>
              <a:t>meaning each input image must be resized to these dimensions. Consequently, whether the region proposals are small or large, they need to be adjusted accordingly to fit the specified input size.</a:t>
            </a:r>
          </a:p>
          <a:p>
            <a:pPr algn="just"/>
            <a:r>
              <a:rPr lang="en-US" sz="2400" dirty="0"/>
              <a:t>From the above architecture, we remove the final </a:t>
            </a:r>
            <a:r>
              <a:rPr lang="en-US" sz="2400" dirty="0" err="1"/>
              <a:t>softmax</a:t>
            </a:r>
            <a:r>
              <a:rPr lang="en-US" sz="2400" dirty="0"/>
              <a:t> layer to obtain a (1, 4096) feature vector. This feature vector is then fed into both the Support Vector Machine (SVM) for classification and the bounding box regressor for improved localization.</a:t>
            </a:r>
            <a:endParaRPr lang="en-IN" sz="2400" dirty="0"/>
          </a:p>
        </p:txBody>
      </p:sp>
    </p:spTree>
    <p:extLst>
      <p:ext uri="{BB962C8B-B14F-4D97-AF65-F5344CB8AC3E}">
        <p14:creationId xmlns:p14="http://schemas.microsoft.com/office/powerpoint/2010/main" val="528607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49CB6-6274-9A96-419E-54B018408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0F671-CB6E-F3EC-3E3E-06DD849BD90B}"/>
              </a:ext>
            </a:extLst>
          </p:cNvPr>
          <p:cNvSpPr>
            <a:spLocks noGrp="1"/>
          </p:cNvSpPr>
          <p:nvPr>
            <p:ph type="title"/>
          </p:nvPr>
        </p:nvSpPr>
        <p:spPr>
          <a:xfrm>
            <a:off x="621792" y="642594"/>
            <a:ext cx="10936224" cy="1122198"/>
          </a:xfrm>
        </p:spPr>
        <p:txBody>
          <a:bodyPr>
            <a:normAutofit/>
          </a:bodyPr>
          <a:lstStyle/>
          <a:p>
            <a:r>
              <a:rPr lang="en-IN" dirty="0"/>
              <a:t>Input Preparation in R-CNN</a:t>
            </a:r>
          </a:p>
        </p:txBody>
      </p:sp>
      <p:pic>
        <p:nvPicPr>
          <p:cNvPr id="20482" name="Picture 2">
            <a:extLst>
              <a:ext uri="{FF2B5EF4-FFF2-40B4-BE49-F238E27FC236}">
                <a16:creationId xmlns:a16="http://schemas.microsoft.com/office/drawing/2014/main" id="{D51B83B0-C6F6-CF26-BA1A-58942DE0AEB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3534" r="523" b="16219"/>
          <a:stretch/>
        </p:blipFill>
        <p:spPr bwMode="auto">
          <a:xfrm>
            <a:off x="621792" y="1939638"/>
            <a:ext cx="10936224" cy="3676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0016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01A8-20E8-E298-0F83-AB72DAA721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F511F-7092-5CD2-F749-AD9E08BC9F43}"/>
              </a:ext>
            </a:extLst>
          </p:cNvPr>
          <p:cNvSpPr>
            <a:spLocks noGrp="1"/>
          </p:cNvSpPr>
          <p:nvPr>
            <p:ph type="title"/>
          </p:nvPr>
        </p:nvSpPr>
        <p:spPr>
          <a:xfrm>
            <a:off x="621792" y="642594"/>
            <a:ext cx="10936224" cy="1122198"/>
          </a:xfrm>
        </p:spPr>
        <p:txBody>
          <a:bodyPr>
            <a:normAutofit/>
          </a:bodyPr>
          <a:lstStyle/>
          <a:p>
            <a:r>
              <a:rPr lang="en-IN" dirty="0"/>
              <a:t>SVM (Support Vector Machine)</a:t>
            </a:r>
          </a:p>
        </p:txBody>
      </p:sp>
      <p:sp>
        <p:nvSpPr>
          <p:cNvPr id="3" name="Content Placeholder 2">
            <a:extLst>
              <a:ext uri="{FF2B5EF4-FFF2-40B4-BE49-F238E27FC236}">
                <a16:creationId xmlns:a16="http://schemas.microsoft.com/office/drawing/2014/main" id="{17E2105A-9312-F06E-2A1D-37BC40448006}"/>
              </a:ext>
            </a:extLst>
          </p:cNvPr>
          <p:cNvSpPr>
            <a:spLocks noGrp="1"/>
          </p:cNvSpPr>
          <p:nvPr>
            <p:ph idx="1"/>
          </p:nvPr>
        </p:nvSpPr>
        <p:spPr>
          <a:xfrm>
            <a:off x="621792" y="1911096"/>
            <a:ext cx="10936224" cy="4304310"/>
          </a:xfrm>
        </p:spPr>
        <p:txBody>
          <a:bodyPr>
            <a:normAutofit/>
          </a:bodyPr>
          <a:lstStyle/>
          <a:p>
            <a:pPr algn="just"/>
            <a:r>
              <a:rPr lang="en-US" sz="2400" dirty="0"/>
              <a:t>The feature vector generated by the CNN is then utilized by a binary Support Vector Machine (SVM), which is trained independently for each class. </a:t>
            </a:r>
          </a:p>
          <a:p>
            <a:pPr algn="just"/>
            <a:r>
              <a:rPr lang="en-US" sz="2400" dirty="0"/>
              <a:t>This SVM model takes the feature vector produced by the previous CNN architecture and outputs a confidence score indicating the likelihood of an object being present in that region.</a:t>
            </a:r>
          </a:p>
          <a:p>
            <a:pPr algn="just"/>
            <a:r>
              <a:rPr lang="en-US" sz="2400" dirty="0"/>
              <a:t>However, a challenge arises during the training process with the SVM: it requires the </a:t>
            </a:r>
            <a:r>
              <a:rPr lang="en-US" sz="2400" dirty="0" err="1"/>
              <a:t>AlexNet</a:t>
            </a:r>
            <a:r>
              <a:rPr lang="en-US" sz="2400" dirty="0"/>
              <a:t> feature vectors for each class. </a:t>
            </a:r>
          </a:p>
          <a:p>
            <a:pPr algn="just"/>
            <a:r>
              <a:rPr lang="en-US" sz="2400" dirty="0"/>
              <a:t>As a result, we cannot train </a:t>
            </a:r>
            <a:r>
              <a:rPr lang="en-US" sz="2400" dirty="0" err="1"/>
              <a:t>AlexNet</a:t>
            </a:r>
            <a:r>
              <a:rPr lang="en-US" sz="2400" dirty="0"/>
              <a:t> and the SVM independently and in parallel.</a:t>
            </a:r>
            <a:endParaRPr lang="en-IN" sz="2400" dirty="0"/>
          </a:p>
        </p:txBody>
      </p:sp>
    </p:spTree>
    <p:extLst>
      <p:ext uri="{BB962C8B-B14F-4D97-AF65-F5344CB8AC3E}">
        <p14:creationId xmlns:p14="http://schemas.microsoft.com/office/powerpoint/2010/main" val="1591808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DDD2F-DA57-D49A-6823-F000DA0D8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FA263-CECD-FE5E-9755-23D42948F862}"/>
              </a:ext>
            </a:extLst>
          </p:cNvPr>
          <p:cNvSpPr>
            <a:spLocks noGrp="1"/>
          </p:cNvSpPr>
          <p:nvPr>
            <p:ph type="title"/>
          </p:nvPr>
        </p:nvSpPr>
        <p:spPr>
          <a:xfrm>
            <a:off x="621792" y="642594"/>
            <a:ext cx="10936224" cy="1122198"/>
          </a:xfrm>
        </p:spPr>
        <p:txBody>
          <a:bodyPr>
            <a:normAutofit/>
          </a:bodyPr>
          <a:lstStyle/>
          <a:p>
            <a:r>
              <a:rPr lang="en-IN" dirty="0"/>
              <a:t>Bounding Box Regressor</a:t>
            </a:r>
          </a:p>
        </p:txBody>
      </p:sp>
      <p:pic>
        <p:nvPicPr>
          <p:cNvPr id="18434" name="Picture 2">
            <a:extLst>
              <a:ext uri="{FF2B5EF4-FFF2-40B4-BE49-F238E27FC236}">
                <a16:creationId xmlns:a16="http://schemas.microsoft.com/office/drawing/2014/main" id="{4A48D767-BF4C-81E8-3F0D-4AAC54240B1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 t="6881" r="-770"/>
          <a:stretch/>
        </p:blipFill>
        <p:spPr bwMode="auto">
          <a:xfrm>
            <a:off x="5809673" y="1653309"/>
            <a:ext cx="5357090" cy="463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698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Custom 1">
      <a:dk1>
        <a:sysClr val="windowText" lastClr="000000"/>
      </a:dk1>
      <a:lt1>
        <a:sysClr val="window" lastClr="FFFFFF"/>
      </a:lt1>
      <a:dk2>
        <a:srgbClr val="736059"/>
      </a:dk2>
      <a:lt2>
        <a:srgbClr val="FFFFFF"/>
      </a:lt2>
      <a:accent1>
        <a:srgbClr val="92B0C8"/>
      </a:accent1>
      <a:accent2>
        <a:srgbClr val="E37C3D"/>
      </a:accent2>
      <a:accent3>
        <a:srgbClr val="A5AB81"/>
      </a:accent3>
      <a:accent4>
        <a:srgbClr val="E9B635"/>
      </a:accent4>
      <a:accent5>
        <a:srgbClr val="7BA79D"/>
      </a:accent5>
      <a:accent6>
        <a:srgbClr val="968C8C"/>
      </a:accent6>
      <a:hlink>
        <a:srgbClr val="F7A115"/>
      </a:hlink>
      <a:folHlink>
        <a:srgbClr val="969696"/>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Savon</Template>
  <TotalTime>508</TotalTime>
  <Words>825</Words>
  <Application>Microsoft Office PowerPoint</Application>
  <PresentationFormat>Widescreen</PresentationFormat>
  <Paragraphs>51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Bookman Old Style</vt:lpstr>
      <vt:lpstr>Garamond</vt:lpstr>
      <vt:lpstr>Savon</vt:lpstr>
      <vt:lpstr>Sliding window object detection</vt:lpstr>
      <vt:lpstr>Sliding Window Object Detection</vt:lpstr>
      <vt:lpstr>Object Detection Model</vt:lpstr>
      <vt:lpstr>Basic Concept of Object Detection Idea : Sliding Window Object Detection</vt:lpstr>
      <vt:lpstr>Steps for Object Detection Sliding Window Approach </vt:lpstr>
      <vt:lpstr>Inaccurate Bounding Box for the detected object</vt:lpstr>
      <vt:lpstr>R-CNN – Region-Based Convolutional Neural Networks</vt:lpstr>
      <vt:lpstr>Introduction to R-CNN</vt:lpstr>
      <vt:lpstr>R-CNN</vt:lpstr>
      <vt:lpstr>R-CNN architecture</vt:lpstr>
      <vt:lpstr>Region Proposals</vt:lpstr>
      <vt:lpstr> Selective Search</vt:lpstr>
      <vt:lpstr>Input Preparation in R-CNN</vt:lpstr>
      <vt:lpstr>Input Preparation in R-CNN</vt:lpstr>
      <vt:lpstr>Input Preparation in R-CNN</vt:lpstr>
      <vt:lpstr>SVM (Support Vector Machine)</vt:lpstr>
      <vt:lpstr>Bounding Box Regressor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Swati Solanki</dc:creator>
  <cp:lastModifiedBy>Swati Solanki</cp:lastModifiedBy>
  <cp:revision>59</cp:revision>
  <dcterms:created xsi:type="dcterms:W3CDTF">2024-08-11T13:07:18Z</dcterms:created>
  <dcterms:modified xsi:type="dcterms:W3CDTF">2024-12-18T07:04:38Z</dcterms:modified>
</cp:coreProperties>
</file>