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5" r:id="rId3"/>
    <p:sldId id="266" r:id="rId4"/>
    <p:sldId id="267" r:id="rId5"/>
    <p:sldId id="268" r:id="rId6"/>
    <p:sldId id="269" r:id="rId7"/>
    <p:sldId id="270" r:id="rId8"/>
    <p:sldId id="271" r:id="rId9"/>
    <p:sldId id="272" r:id="rId10"/>
    <p:sldId id="273" r:id="rId11"/>
    <p:sldId id="274"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D0CD42E8-3039-47BC-901F-B27A758BA27D}" type="datetimeFigureOut">
              <a:rPr lang="en-IN" smtClean="0"/>
              <a:t>12-11-2024</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1CC7AA3-843B-460B-AAC8-E83FEB1A8833}" type="slidenum">
              <a:rPr lang="en-IN" smtClean="0"/>
              <a:t>‹#›</a:t>
            </a:fld>
            <a:endParaRPr lang="en-IN"/>
          </a:p>
        </p:txBody>
      </p:sp>
    </p:spTree>
    <p:extLst>
      <p:ext uri="{BB962C8B-B14F-4D97-AF65-F5344CB8AC3E}">
        <p14:creationId xmlns:p14="http://schemas.microsoft.com/office/powerpoint/2010/main" val="336158878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CD42E8-3039-47BC-901F-B27A758BA27D}"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1142608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D0CD42E8-3039-47BC-901F-B27A758BA27D}" type="datetimeFigureOut">
              <a:rPr lang="en-IN" smtClean="0"/>
              <a:t>12-11-2024</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383908787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CD42E8-3039-47BC-901F-B27A758BA27D}" type="datetimeFigureOut">
              <a:rPr lang="en-IN" smtClean="0"/>
              <a:t>12-11-2024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804489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CD42E8-3039-47BC-901F-B27A758BA27D}" type="datetimeFigureOut">
              <a:rPr lang="en-IN" smtClean="0"/>
              <a:t>12-11-2024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1701082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CD42E8-3039-47BC-901F-B27A758BA27D}" type="datetimeFigureOut">
              <a:rPr lang="en-IN" smtClean="0"/>
              <a:t>12-11-2024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4113618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CD42E8-3039-47BC-901F-B27A758BA27D}" type="datetimeFigureOut">
              <a:rPr lang="en-IN" smtClean="0"/>
              <a:t>12-11-2024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3589009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0CD42E8-3039-47BC-901F-B27A758BA27D}" type="datetimeFigureOut">
              <a:rPr lang="en-IN" smtClean="0"/>
              <a:t>12-11-2024</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6728" y="6227064"/>
            <a:ext cx="1463040" cy="256032"/>
          </a:xfrm>
        </p:spPr>
        <p:txBody>
          <a:bodyPr/>
          <a:lstStyle/>
          <a:p>
            <a:fld id="{51CC7AA3-843B-460B-AAC8-E83FEB1A8833}"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3319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D0CD42E8-3039-47BC-901F-B27A758BA27D}" type="datetimeFigureOut">
              <a:rPr lang="en-IN" smtClean="0"/>
              <a:t>12-11-2024</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56032"/>
          </a:xfrm>
        </p:spPr>
        <p:txBody>
          <a:bodyPr/>
          <a:lstStyle/>
          <a:p>
            <a:fld id="{51CC7AA3-843B-460B-AAC8-E83FEB1A8833}"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3442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CD42E8-3039-47BC-901F-B27A758BA27D}"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3662577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CD42E8-3039-47BC-901F-B27A758BA27D}"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281136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D0CD42E8-3039-47BC-901F-B27A758BA27D}" type="datetimeFigureOut">
              <a:rPr lang="en-IN" smtClean="0"/>
              <a:t>12-11-2024</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1CC7AA3-843B-460B-AAC8-E83FEB1A8833}" type="slidenum">
              <a:rPr lang="en-IN" smtClean="0"/>
              <a:t>‹#›</a:t>
            </a:fld>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307756534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09B0-41E3-500C-32BD-9522ABE28E6D}"/>
              </a:ext>
            </a:extLst>
          </p:cNvPr>
          <p:cNvSpPr>
            <a:spLocks noGrp="1"/>
          </p:cNvSpPr>
          <p:nvPr>
            <p:ph type="ctrTitle"/>
          </p:nvPr>
        </p:nvSpPr>
        <p:spPr/>
        <p:txBody>
          <a:bodyPr/>
          <a:lstStyle/>
          <a:p>
            <a:r>
              <a:rPr lang="fr-FR" sz="4800" dirty="0"/>
              <a:t>Image Classification vs. Object </a:t>
            </a:r>
            <a:r>
              <a:rPr lang="fr-FR" sz="4800" dirty="0" err="1"/>
              <a:t>Detection</a:t>
            </a:r>
            <a:r>
              <a:rPr lang="fr-FR" sz="4800" dirty="0"/>
              <a:t> vs. Image Segmentation</a:t>
            </a:r>
            <a:endParaRPr lang="en-IN" sz="4800" dirty="0"/>
          </a:p>
        </p:txBody>
      </p:sp>
      <p:sp>
        <p:nvSpPr>
          <p:cNvPr id="3" name="Subtitle 2">
            <a:extLst>
              <a:ext uri="{FF2B5EF4-FFF2-40B4-BE49-F238E27FC236}">
                <a16:creationId xmlns:a16="http://schemas.microsoft.com/office/drawing/2014/main" id="{7F4B51DB-5D03-FDF2-D8AA-5DD89B4F5696}"/>
              </a:ext>
            </a:extLst>
          </p:cNvPr>
          <p:cNvSpPr>
            <a:spLocks noGrp="1"/>
          </p:cNvSpPr>
          <p:nvPr>
            <p:ph type="subTitle" idx="1"/>
          </p:nvPr>
        </p:nvSpPr>
        <p:spPr/>
        <p:txBody>
          <a:bodyPr/>
          <a:lstStyle/>
          <a:p>
            <a:r>
              <a:rPr lang="en-US" dirty="0"/>
              <a:t>Deep Learning</a:t>
            </a:r>
            <a:endParaRPr lang="en-IN" dirty="0"/>
          </a:p>
        </p:txBody>
      </p:sp>
    </p:spTree>
    <p:extLst>
      <p:ext uri="{BB962C8B-B14F-4D97-AF65-F5344CB8AC3E}">
        <p14:creationId xmlns:p14="http://schemas.microsoft.com/office/powerpoint/2010/main" val="2571464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79E2E-2D68-4AFA-E503-3F5B9B5F6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2C5C8-83F3-3583-5BAB-E6D528B99D0D}"/>
              </a:ext>
            </a:extLst>
          </p:cNvPr>
          <p:cNvSpPr>
            <a:spLocks noGrp="1"/>
          </p:cNvSpPr>
          <p:nvPr>
            <p:ph type="title"/>
          </p:nvPr>
        </p:nvSpPr>
        <p:spPr>
          <a:xfrm>
            <a:off x="502920" y="496290"/>
            <a:ext cx="11210544" cy="1131342"/>
          </a:xfrm>
        </p:spPr>
        <p:txBody>
          <a:bodyPr>
            <a:normAutofit/>
          </a:bodyPr>
          <a:lstStyle/>
          <a:p>
            <a:r>
              <a:rPr lang="fr-FR" sz="3600" dirty="0"/>
              <a:t>Image Classification vs. Object </a:t>
            </a:r>
            <a:r>
              <a:rPr lang="fr-FR" sz="3600" dirty="0" err="1"/>
              <a:t>Detection</a:t>
            </a:r>
            <a:r>
              <a:rPr lang="fr-FR" sz="3600" dirty="0"/>
              <a:t> vs. Image Segmentation</a:t>
            </a:r>
            <a:endParaRPr lang="en-IN" sz="3600" dirty="0"/>
          </a:p>
        </p:txBody>
      </p:sp>
      <p:pic>
        <p:nvPicPr>
          <p:cNvPr id="1026" name="Picture 2">
            <a:extLst>
              <a:ext uri="{FF2B5EF4-FFF2-40B4-BE49-F238E27FC236}">
                <a16:creationId xmlns:a16="http://schemas.microsoft.com/office/drawing/2014/main" id="{0941DC3D-FE68-F3A8-DA02-CF3052CD91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3684" y="1543970"/>
            <a:ext cx="6566852" cy="435410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B9D60AA-40F2-20CB-9F46-606AC5DC290E}"/>
              </a:ext>
            </a:extLst>
          </p:cNvPr>
          <p:cNvSpPr txBox="1"/>
          <p:nvPr/>
        </p:nvSpPr>
        <p:spPr>
          <a:xfrm>
            <a:off x="2685320" y="5992378"/>
            <a:ext cx="6094476" cy="400110"/>
          </a:xfrm>
          <a:prstGeom prst="rect">
            <a:avLst/>
          </a:prstGeom>
          <a:noFill/>
        </p:spPr>
        <p:txBody>
          <a:bodyPr wrap="square">
            <a:spAutoFit/>
          </a:bodyPr>
          <a:lstStyle/>
          <a:p>
            <a:r>
              <a:rPr lang="en-IN" sz="2000" dirty="0"/>
              <a:t> Image Classification </a:t>
            </a:r>
          </a:p>
        </p:txBody>
      </p:sp>
    </p:spTree>
    <p:extLst>
      <p:ext uri="{BB962C8B-B14F-4D97-AF65-F5344CB8AC3E}">
        <p14:creationId xmlns:p14="http://schemas.microsoft.com/office/powerpoint/2010/main" val="3109657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9D095-848E-53FE-B939-F7B1B8F78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4C81A-78C2-AE07-61F2-DA6346F7E875}"/>
              </a:ext>
            </a:extLst>
          </p:cNvPr>
          <p:cNvSpPr>
            <a:spLocks noGrp="1"/>
          </p:cNvSpPr>
          <p:nvPr>
            <p:ph type="title"/>
          </p:nvPr>
        </p:nvSpPr>
        <p:spPr>
          <a:xfrm>
            <a:off x="502920" y="496290"/>
            <a:ext cx="11210544" cy="1131342"/>
          </a:xfrm>
        </p:spPr>
        <p:txBody>
          <a:bodyPr>
            <a:normAutofit/>
          </a:bodyPr>
          <a:lstStyle/>
          <a:p>
            <a:r>
              <a:rPr lang="fr-FR" sz="3600" dirty="0"/>
              <a:t>Image Classification vs. Object </a:t>
            </a:r>
            <a:r>
              <a:rPr lang="fr-FR" sz="3600" dirty="0" err="1"/>
              <a:t>Detection</a:t>
            </a:r>
            <a:r>
              <a:rPr lang="fr-FR" sz="3600" dirty="0"/>
              <a:t> vs. Image Segmentation</a:t>
            </a:r>
            <a:endParaRPr lang="en-IN" sz="3600" dirty="0"/>
          </a:p>
        </p:txBody>
      </p:sp>
      <p:pic>
        <p:nvPicPr>
          <p:cNvPr id="2050" name="Picture 2">
            <a:extLst>
              <a:ext uri="{FF2B5EF4-FFF2-40B4-BE49-F238E27FC236}">
                <a16:creationId xmlns:a16="http://schemas.microsoft.com/office/drawing/2014/main" id="{121458B6-2B32-CCF5-7461-29D8639AE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1704" y="1709661"/>
            <a:ext cx="5734240" cy="4510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36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78BCA-6D03-057A-A5E6-443321919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85FF1-EC09-3E84-AFAA-A2A676A32D2B}"/>
              </a:ext>
            </a:extLst>
          </p:cNvPr>
          <p:cNvSpPr>
            <a:spLocks noGrp="1"/>
          </p:cNvSpPr>
          <p:nvPr>
            <p:ph type="title"/>
          </p:nvPr>
        </p:nvSpPr>
        <p:spPr>
          <a:xfrm>
            <a:off x="502920" y="496290"/>
            <a:ext cx="11210544" cy="1131342"/>
          </a:xfrm>
        </p:spPr>
        <p:txBody>
          <a:bodyPr>
            <a:normAutofit/>
          </a:bodyPr>
          <a:lstStyle/>
          <a:p>
            <a:r>
              <a:rPr lang="fr-FR" sz="3600" dirty="0"/>
              <a:t>Image Classification vs. Object </a:t>
            </a:r>
            <a:r>
              <a:rPr lang="fr-FR" sz="3600" dirty="0" err="1"/>
              <a:t>Detection</a:t>
            </a:r>
            <a:r>
              <a:rPr lang="fr-FR" sz="3600" dirty="0"/>
              <a:t> vs. Image Segmentation</a:t>
            </a:r>
            <a:endParaRPr lang="en-IN" sz="3600" dirty="0"/>
          </a:p>
        </p:txBody>
      </p:sp>
      <p:pic>
        <p:nvPicPr>
          <p:cNvPr id="4098" name="Picture 2">
            <a:extLst>
              <a:ext uri="{FF2B5EF4-FFF2-40B4-BE49-F238E27FC236}">
                <a16:creationId xmlns:a16="http://schemas.microsoft.com/office/drawing/2014/main" id="{C2187CE7-B326-6E48-F33F-9D411E8A1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838" y="1808797"/>
            <a:ext cx="8948737" cy="3620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01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F9AB5-DDA5-3B77-34D3-799533E59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38122-6C02-1FDD-8CEC-BFEA2B4224AB}"/>
              </a:ext>
            </a:extLst>
          </p:cNvPr>
          <p:cNvSpPr>
            <a:spLocks noGrp="1"/>
          </p:cNvSpPr>
          <p:nvPr>
            <p:ph type="title"/>
          </p:nvPr>
        </p:nvSpPr>
        <p:spPr>
          <a:xfrm>
            <a:off x="502920" y="496290"/>
            <a:ext cx="11210544" cy="1131342"/>
          </a:xfrm>
        </p:spPr>
        <p:txBody>
          <a:bodyPr>
            <a:normAutofit/>
          </a:bodyPr>
          <a:lstStyle/>
          <a:p>
            <a:r>
              <a:rPr lang="fr-FR" sz="3600" dirty="0"/>
              <a:t>Image Classification vs. Object </a:t>
            </a:r>
            <a:r>
              <a:rPr lang="fr-FR" sz="3600" dirty="0" err="1"/>
              <a:t>Detection</a:t>
            </a:r>
            <a:r>
              <a:rPr lang="fr-FR" sz="3600" dirty="0"/>
              <a:t> vs. Image Segmentation</a:t>
            </a:r>
            <a:endParaRPr lang="en-IN" sz="3600" dirty="0"/>
          </a:p>
        </p:txBody>
      </p:sp>
      <p:pic>
        <p:nvPicPr>
          <p:cNvPr id="5122" name="Picture 2">
            <a:extLst>
              <a:ext uri="{FF2B5EF4-FFF2-40B4-BE49-F238E27FC236}">
                <a16:creationId xmlns:a16="http://schemas.microsoft.com/office/drawing/2014/main" id="{003A0102-A5C3-7E9C-302D-1AE87995A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1787270"/>
            <a:ext cx="7304532" cy="440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674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9267-03B2-51FA-378D-FD6996D10FCA}"/>
              </a:ext>
            </a:extLst>
          </p:cNvPr>
          <p:cNvSpPr>
            <a:spLocks noGrp="1"/>
          </p:cNvSpPr>
          <p:nvPr>
            <p:ph type="title"/>
          </p:nvPr>
        </p:nvSpPr>
        <p:spPr>
          <a:xfrm>
            <a:off x="621792" y="642594"/>
            <a:ext cx="10936224" cy="1122198"/>
          </a:xfrm>
        </p:spPr>
        <p:txBody>
          <a:bodyPr>
            <a:normAutofit fontScale="90000"/>
          </a:bodyPr>
          <a:lstStyle/>
          <a:p>
            <a:r>
              <a:rPr lang="fr-FR" sz="4800" dirty="0"/>
              <a:t>Image Classification vs. Object </a:t>
            </a:r>
            <a:r>
              <a:rPr lang="fr-FR" sz="4800" dirty="0" err="1"/>
              <a:t>Detection</a:t>
            </a:r>
            <a:r>
              <a:rPr lang="fr-FR" sz="4800" dirty="0"/>
              <a:t> vs. Image Segmentation</a:t>
            </a:r>
            <a:endParaRPr lang="en-IN" dirty="0"/>
          </a:p>
        </p:txBody>
      </p:sp>
      <p:sp>
        <p:nvSpPr>
          <p:cNvPr id="3" name="Content Placeholder 2">
            <a:extLst>
              <a:ext uri="{FF2B5EF4-FFF2-40B4-BE49-F238E27FC236}">
                <a16:creationId xmlns:a16="http://schemas.microsoft.com/office/drawing/2014/main" id="{D7AB871E-9BC4-F160-E360-0226A1C69610}"/>
              </a:ext>
            </a:extLst>
          </p:cNvPr>
          <p:cNvSpPr>
            <a:spLocks noGrp="1"/>
          </p:cNvSpPr>
          <p:nvPr>
            <p:ph idx="1"/>
          </p:nvPr>
        </p:nvSpPr>
        <p:spPr>
          <a:xfrm>
            <a:off x="621792" y="1911096"/>
            <a:ext cx="10936224" cy="4304310"/>
          </a:xfrm>
        </p:spPr>
        <p:txBody>
          <a:bodyPr>
            <a:normAutofit/>
          </a:bodyPr>
          <a:lstStyle/>
          <a:p>
            <a:pPr algn="just"/>
            <a:r>
              <a:rPr lang="en-US" sz="2400" dirty="0"/>
              <a:t>Image Classification helps us to classify what is contained in an image. </a:t>
            </a:r>
          </a:p>
          <a:p>
            <a:pPr algn="just"/>
            <a:r>
              <a:rPr lang="en-US" sz="2400" dirty="0"/>
              <a:t>Image Localization will specify the location of single object in an image whereas Object Detection specifies the location of multiple objects in the image. </a:t>
            </a:r>
          </a:p>
          <a:p>
            <a:pPr algn="just"/>
            <a:r>
              <a:rPr lang="en-US" sz="2400" dirty="0"/>
              <a:t>Finally, Image Segmentation will create a pixel wise mask of each object in the images. </a:t>
            </a:r>
          </a:p>
          <a:p>
            <a:pPr algn="just"/>
            <a:r>
              <a:rPr lang="en-US" sz="2400" dirty="0"/>
              <a:t>We will be able to identify the shapes of different objects in the image using Image Segmentation.</a:t>
            </a:r>
            <a:endParaRPr lang="en-IN" sz="2400" dirty="0"/>
          </a:p>
        </p:txBody>
      </p:sp>
    </p:spTree>
    <p:extLst>
      <p:ext uri="{BB962C8B-B14F-4D97-AF65-F5344CB8AC3E}">
        <p14:creationId xmlns:p14="http://schemas.microsoft.com/office/powerpoint/2010/main" val="1255963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FE94A-8CF4-E617-667F-1BA2D5FB4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12BCD-B5E8-5C3E-4857-4889560B9D66}"/>
              </a:ext>
            </a:extLst>
          </p:cNvPr>
          <p:cNvSpPr>
            <a:spLocks noGrp="1"/>
          </p:cNvSpPr>
          <p:nvPr>
            <p:ph type="ctrTitle"/>
          </p:nvPr>
        </p:nvSpPr>
        <p:spPr/>
        <p:txBody>
          <a:bodyPr/>
          <a:lstStyle/>
          <a:p>
            <a:r>
              <a:rPr lang="fr-FR" sz="4800" dirty="0" err="1"/>
              <a:t>Popular</a:t>
            </a:r>
            <a:r>
              <a:rPr lang="fr-FR" sz="4800" dirty="0"/>
              <a:t> </a:t>
            </a:r>
            <a:r>
              <a:rPr lang="fr-FR" sz="4800" dirty="0" err="1"/>
              <a:t>datasets</a:t>
            </a:r>
            <a:r>
              <a:rPr lang="fr-FR" sz="4800" dirty="0"/>
              <a:t> for computer vision</a:t>
            </a:r>
            <a:endParaRPr lang="en-IN" sz="4800" dirty="0"/>
          </a:p>
        </p:txBody>
      </p:sp>
      <p:sp>
        <p:nvSpPr>
          <p:cNvPr id="3" name="Subtitle 2">
            <a:extLst>
              <a:ext uri="{FF2B5EF4-FFF2-40B4-BE49-F238E27FC236}">
                <a16:creationId xmlns:a16="http://schemas.microsoft.com/office/drawing/2014/main" id="{314B0F67-D4DA-9E56-C126-CCE4606EDB5C}"/>
              </a:ext>
            </a:extLst>
          </p:cNvPr>
          <p:cNvSpPr>
            <a:spLocks noGrp="1"/>
          </p:cNvSpPr>
          <p:nvPr>
            <p:ph type="subTitle" idx="1"/>
          </p:nvPr>
        </p:nvSpPr>
        <p:spPr/>
        <p:txBody>
          <a:bodyPr/>
          <a:lstStyle/>
          <a:p>
            <a:r>
              <a:rPr lang="en-US" dirty="0"/>
              <a:t>Deep Learning</a:t>
            </a:r>
            <a:endParaRPr lang="en-IN" dirty="0"/>
          </a:p>
        </p:txBody>
      </p:sp>
    </p:spTree>
    <p:extLst>
      <p:ext uri="{BB962C8B-B14F-4D97-AF65-F5344CB8AC3E}">
        <p14:creationId xmlns:p14="http://schemas.microsoft.com/office/powerpoint/2010/main" val="415108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D012D-B8FF-F0C6-5E64-2EE1B21E3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7A30F-60B1-DCE9-41C4-0BB693CB02C3}"/>
              </a:ext>
            </a:extLst>
          </p:cNvPr>
          <p:cNvSpPr>
            <a:spLocks noGrp="1"/>
          </p:cNvSpPr>
          <p:nvPr>
            <p:ph type="title"/>
          </p:nvPr>
        </p:nvSpPr>
        <p:spPr>
          <a:xfrm>
            <a:off x="621792" y="642594"/>
            <a:ext cx="10936224" cy="1122198"/>
          </a:xfrm>
        </p:spPr>
        <p:txBody>
          <a:bodyPr>
            <a:normAutofit/>
          </a:bodyPr>
          <a:lstStyle/>
          <a:p>
            <a:r>
              <a:rPr lang="en-US" dirty="0"/>
              <a:t>What is Computer Vision?</a:t>
            </a:r>
            <a:endParaRPr lang="en-IN" dirty="0"/>
          </a:p>
        </p:txBody>
      </p:sp>
      <p:sp>
        <p:nvSpPr>
          <p:cNvPr id="3" name="Content Placeholder 2">
            <a:extLst>
              <a:ext uri="{FF2B5EF4-FFF2-40B4-BE49-F238E27FC236}">
                <a16:creationId xmlns:a16="http://schemas.microsoft.com/office/drawing/2014/main" id="{B93AAE00-FC18-7050-F856-84E03E1371CE}"/>
              </a:ext>
            </a:extLst>
          </p:cNvPr>
          <p:cNvSpPr>
            <a:spLocks noGrp="1"/>
          </p:cNvSpPr>
          <p:nvPr>
            <p:ph idx="1"/>
          </p:nvPr>
        </p:nvSpPr>
        <p:spPr>
          <a:xfrm>
            <a:off x="621792" y="1911096"/>
            <a:ext cx="10936224" cy="4304310"/>
          </a:xfrm>
        </p:spPr>
        <p:txBody>
          <a:bodyPr>
            <a:normAutofit lnSpcReduction="10000"/>
          </a:bodyPr>
          <a:lstStyle/>
          <a:p>
            <a:pPr algn="just"/>
            <a:r>
              <a:rPr lang="en-US" sz="2400" dirty="0"/>
              <a:t>Computer vision is a field of study within artificial intelligence (AI) that focuses on enabling computers to </a:t>
            </a:r>
            <a:r>
              <a:rPr lang="en-US" sz="2400" b="1" dirty="0"/>
              <a:t>Intercept and extract information </a:t>
            </a:r>
            <a:r>
              <a:rPr lang="en-US" sz="2400" dirty="0"/>
              <a:t>from </a:t>
            </a:r>
            <a:r>
              <a:rPr lang="en-US" sz="2400" b="1" dirty="0"/>
              <a:t>images</a:t>
            </a:r>
            <a:r>
              <a:rPr lang="en-US" sz="2400" dirty="0"/>
              <a:t> and </a:t>
            </a:r>
            <a:r>
              <a:rPr lang="en-US" sz="2400" b="1" dirty="0"/>
              <a:t>videos</a:t>
            </a:r>
            <a:r>
              <a:rPr lang="en-US" sz="2400" dirty="0"/>
              <a:t>, in a </a:t>
            </a:r>
            <a:r>
              <a:rPr lang="en-US" sz="2400" b="1" dirty="0"/>
              <a:t>manner similar to human vision</a:t>
            </a:r>
            <a:r>
              <a:rPr lang="en-US" sz="2400" dirty="0"/>
              <a:t>. </a:t>
            </a:r>
          </a:p>
          <a:p>
            <a:pPr algn="just"/>
            <a:r>
              <a:rPr lang="en-US" sz="2400" dirty="0"/>
              <a:t>It involves developing algorithms and techniques to extract meaningful information from visual inputs and make sense of the visual world.</a:t>
            </a:r>
          </a:p>
          <a:p>
            <a:pPr marL="0" indent="0" algn="just">
              <a:buNone/>
            </a:pPr>
            <a:r>
              <a:rPr lang="en-US" sz="2400" b="1" dirty="0"/>
              <a:t>Examples of CV:</a:t>
            </a:r>
          </a:p>
          <a:p>
            <a:pPr algn="just"/>
            <a:r>
              <a:rPr lang="en-US" sz="2400" dirty="0"/>
              <a:t>Facial Recognition</a:t>
            </a:r>
          </a:p>
          <a:p>
            <a:pPr algn="just"/>
            <a:r>
              <a:rPr lang="en-US" sz="2400" dirty="0"/>
              <a:t>Self Driving cars</a:t>
            </a:r>
          </a:p>
          <a:p>
            <a:pPr algn="just"/>
            <a:r>
              <a:rPr lang="en-US" sz="2400" dirty="0"/>
              <a:t>Robotic Automation</a:t>
            </a:r>
          </a:p>
          <a:p>
            <a:pPr algn="just"/>
            <a:r>
              <a:rPr lang="en-US" sz="2400" dirty="0"/>
              <a:t>Medical Anomaly Detection</a:t>
            </a:r>
            <a:endParaRPr lang="en-IN" sz="2400" dirty="0"/>
          </a:p>
        </p:txBody>
      </p:sp>
    </p:spTree>
    <p:extLst>
      <p:ext uri="{BB962C8B-B14F-4D97-AF65-F5344CB8AC3E}">
        <p14:creationId xmlns:p14="http://schemas.microsoft.com/office/powerpoint/2010/main" val="3230850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35570-5F1A-8D52-0C6F-05227027C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1D749-AFDB-679A-086B-6349303B29AF}"/>
              </a:ext>
            </a:extLst>
          </p:cNvPr>
          <p:cNvSpPr>
            <a:spLocks noGrp="1"/>
          </p:cNvSpPr>
          <p:nvPr>
            <p:ph type="title"/>
          </p:nvPr>
        </p:nvSpPr>
        <p:spPr>
          <a:xfrm>
            <a:off x="621792" y="642594"/>
            <a:ext cx="10936224" cy="1122198"/>
          </a:xfrm>
        </p:spPr>
        <p:txBody>
          <a:bodyPr>
            <a:normAutofit/>
          </a:bodyPr>
          <a:lstStyle/>
          <a:p>
            <a:r>
              <a:rPr lang="en-US" dirty="0"/>
              <a:t>Datasets for CV</a:t>
            </a:r>
            <a:endParaRPr lang="en-IN" dirty="0"/>
          </a:p>
        </p:txBody>
      </p:sp>
      <p:sp>
        <p:nvSpPr>
          <p:cNvPr id="3" name="Content Placeholder 2">
            <a:extLst>
              <a:ext uri="{FF2B5EF4-FFF2-40B4-BE49-F238E27FC236}">
                <a16:creationId xmlns:a16="http://schemas.microsoft.com/office/drawing/2014/main" id="{C4EA7D5B-CB75-BC45-4980-508D15F1EF26}"/>
              </a:ext>
            </a:extLst>
          </p:cNvPr>
          <p:cNvSpPr>
            <a:spLocks noGrp="1"/>
          </p:cNvSpPr>
          <p:nvPr>
            <p:ph idx="1"/>
          </p:nvPr>
        </p:nvSpPr>
        <p:spPr>
          <a:xfrm>
            <a:off x="621792" y="1624768"/>
            <a:ext cx="10936224" cy="4304310"/>
          </a:xfrm>
        </p:spPr>
        <p:txBody>
          <a:bodyPr>
            <a:normAutofit/>
          </a:bodyPr>
          <a:lstStyle/>
          <a:p>
            <a:pPr algn="just"/>
            <a:r>
              <a:rPr lang="en-US" sz="2400" dirty="0"/>
              <a:t>Here are 10 significant datasets that encompass a variety of computer vision tasks such as object detection, image classification, segmentation, and beyond.</a:t>
            </a:r>
          </a:p>
          <a:p>
            <a:pPr algn="just"/>
            <a:r>
              <a:rPr lang="en-IN" sz="2400" b="1" dirty="0"/>
              <a:t>ImageNet: </a:t>
            </a:r>
            <a:r>
              <a:rPr lang="en-US" sz="2400" dirty="0"/>
              <a:t>A free, open database with over 14 million annotated images across 20,000 categories </a:t>
            </a:r>
          </a:p>
          <a:p>
            <a:pPr algn="just"/>
            <a:endParaRPr lang="en-IN" sz="2400" dirty="0"/>
          </a:p>
        </p:txBody>
      </p:sp>
      <p:pic>
        <p:nvPicPr>
          <p:cNvPr id="6146" name="Picture 2">
            <a:extLst>
              <a:ext uri="{FF2B5EF4-FFF2-40B4-BE49-F238E27FC236}">
                <a16:creationId xmlns:a16="http://schemas.microsoft.com/office/drawing/2014/main" id="{E5C1CFC7-97AB-1421-BEA5-125A885F8D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8029" y="3357906"/>
            <a:ext cx="7568080" cy="3027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076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724F2-71A0-1DB4-260E-E416FE75B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ACDA8-B95F-67DB-25AF-A41F19FC29A4}"/>
              </a:ext>
            </a:extLst>
          </p:cNvPr>
          <p:cNvSpPr>
            <a:spLocks noGrp="1"/>
          </p:cNvSpPr>
          <p:nvPr>
            <p:ph type="title"/>
          </p:nvPr>
        </p:nvSpPr>
        <p:spPr>
          <a:xfrm>
            <a:off x="621792" y="448630"/>
            <a:ext cx="10936224" cy="1122198"/>
          </a:xfrm>
        </p:spPr>
        <p:txBody>
          <a:bodyPr>
            <a:normAutofit/>
          </a:bodyPr>
          <a:lstStyle/>
          <a:p>
            <a:r>
              <a:rPr lang="en-US" dirty="0"/>
              <a:t>Datasets for CV</a:t>
            </a:r>
            <a:endParaRPr lang="en-IN" dirty="0"/>
          </a:p>
        </p:txBody>
      </p:sp>
      <p:sp>
        <p:nvSpPr>
          <p:cNvPr id="3" name="Content Placeholder 2">
            <a:extLst>
              <a:ext uri="{FF2B5EF4-FFF2-40B4-BE49-F238E27FC236}">
                <a16:creationId xmlns:a16="http://schemas.microsoft.com/office/drawing/2014/main" id="{BE030060-96FE-01E3-5DC5-80C998E92A0E}"/>
              </a:ext>
            </a:extLst>
          </p:cNvPr>
          <p:cNvSpPr>
            <a:spLocks noGrp="1"/>
          </p:cNvSpPr>
          <p:nvPr>
            <p:ph idx="1"/>
          </p:nvPr>
        </p:nvSpPr>
        <p:spPr>
          <a:xfrm>
            <a:off x="621792" y="1459345"/>
            <a:ext cx="10936224" cy="4756061"/>
          </a:xfrm>
        </p:spPr>
        <p:txBody>
          <a:bodyPr>
            <a:normAutofit fontScale="92500" lnSpcReduction="20000"/>
          </a:bodyPr>
          <a:lstStyle/>
          <a:p>
            <a:pPr algn="just"/>
            <a:r>
              <a:rPr lang="en-IN" sz="2400" b="1" dirty="0"/>
              <a:t>CIFAR-10 &amp; CIFAR-100:</a:t>
            </a:r>
          </a:p>
          <a:p>
            <a:pPr algn="just"/>
            <a:r>
              <a:rPr lang="en-IN" sz="2400" dirty="0"/>
              <a:t>CIFAR-10 is </a:t>
            </a:r>
            <a:r>
              <a:rPr lang="en-US" sz="2400" dirty="0"/>
              <a:t>a popular dataset for object recognition, often used as a benchmark for computer vision algorithms, while CIFAR-100 is a subset of an 80 million image collection designed to help analyze real-world imagery.</a:t>
            </a:r>
          </a:p>
          <a:p>
            <a:pPr algn="just"/>
            <a:r>
              <a:rPr lang="en-US" sz="2400" dirty="0"/>
              <a:t>CIFAR-10 contains 60,000 color images of 32x32 pixels each, spread across 10 categories, with each category containing 6,000 images. The dataset is divided into 50,000 training images and 10,000 testing images, covering a variety of subjects such as animals and vehicles.</a:t>
            </a:r>
          </a:p>
          <a:p>
            <a:pPr algn="just"/>
            <a:r>
              <a:rPr lang="en-US" sz="2400" dirty="0"/>
              <a:t>In contrast, CIFAR-100 builds upon this by offering 100 categories, each with 600 images, totaling the same 60,000 images but with a more granular categorization. </a:t>
            </a:r>
          </a:p>
          <a:p>
            <a:pPr algn="just"/>
            <a:r>
              <a:rPr lang="en-US" sz="2400" dirty="0"/>
              <a:t>It assigns 500 images for training and 100 for testing per category. Additionally, CIFAR-100 classifies its categories into 20 </a:t>
            </a:r>
            <a:r>
              <a:rPr lang="en-US" sz="2400" dirty="0" err="1"/>
              <a:t>supercategories</a:t>
            </a:r>
            <a:r>
              <a:rPr lang="en-US" sz="2400" dirty="0"/>
              <a:t>, with each image labeled with both a “fine” label for its specific category and a “coarse” label that indicates its </a:t>
            </a:r>
            <a:r>
              <a:rPr lang="en-US" sz="2400" dirty="0" err="1"/>
              <a:t>supercategory</a:t>
            </a:r>
            <a:r>
              <a:rPr lang="en-US" sz="2400" dirty="0"/>
              <a:t>.</a:t>
            </a:r>
          </a:p>
          <a:p>
            <a:pPr algn="just"/>
            <a:endParaRPr lang="en-US" sz="2400" dirty="0"/>
          </a:p>
          <a:p>
            <a:pPr algn="just"/>
            <a:r>
              <a:rPr lang="en-US" sz="2400" dirty="0"/>
              <a:t> </a:t>
            </a:r>
          </a:p>
          <a:p>
            <a:pPr algn="just"/>
            <a:endParaRPr lang="en-IN" sz="2400" dirty="0"/>
          </a:p>
        </p:txBody>
      </p:sp>
    </p:spTree>
    <p:extLst>
      <p:ext uri="{BB962C8B-B14F-4D97-AF65-F5344CB8AC3E}">
        <p14:creationId xmlns:p14="http://schemas.microsoft.com/office/powerpoint/2010/main" val="705157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82766-B796-3092-9798-FA39778D6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86EC0-1753-21E7-93C6-582A8E6D5C95}"/>
              </a:ext>
            </a:extLst>
          </p:cNvPr>
          <p:cNvSpPr>
            <a:spLocks noGrp="1"/>
          </p:cNvSpPr>
          <p:nvPr>
            <p:ph type="title"/>
          </p:nvPr>
        </p:nvSpPr>
        <p:spPr>
          <a:xfrm>
            <a:off x="621792" y="448630"/>
            <a:ext cx="10936224" cy="1122198"/>
          </a:xfrm>
        </p:spPr>
        <p:txBody>
          <a:bodyPr>
            <a:normAutofit/>
          </a:bodyPr>
          <a:lstStyle/>
          <a:p>
            <a:r>
              <a:rPr lang="en-US" dirty="0"/>
              <a:t>Datasets for CV</a:t>
            </a:r>
            <a:endParaRPr lang="en-IN" dirty="0"/>
          </a:p>
        </p:txBody>
      </p:sp>
      <p:sp>
        <p:nvSpPr>
          <p:cNvPr id="3" name="Content Placeholder 2">
            <a:extLst>
              <a:ext uri="{FF2B5EF4-FFF2-40B4-BE49-F238E27FC236}">
                <a16:creationId xmlns:a16="http://schemas.microsoft.com/office/drawing/2014/main" id="{9BB54BA8-D753-08F1-48D3-C4BF244CC5D8}"/>
              </a:ext>
            </a:extLst>
          </p:cNvPr>
          <p:cNvSpPr>
            <a:spLocks noGrp="1"/>
          </p:cNvSpPr>
          <p:nvPr>
            <p:ph idx="1"/>
          </p:nvPr>
        </p:nvSpPr>
        <p:spPr>
          <a:xfrm>
            <a:off x="621792" y="1653309"/>
            <a:ext cx="10936224" cy="4562097"/>
          </a:xfrm>
        </p:spPr>
        <p:txBody>
          <a:bodyPr>
            <a:normAutofit/>
          </a:bodyPr>
          <a:lstStyle/>
          <a:p>
            <a:pPr algn="just"/>
            <a:r>
              <a:rPr lang="en-IN" sz="2400" b="1" dirty="0"/>
              <a:t>CIFAR-10 &amp; CIFAR-100</a:t>
            </a:r>
          </a:p>
        </p:txBody>
      </p:sp>
      <p:pic>
        <p:nvPicPr>
          <p:cNvPr id="9218" name="Picture 2">
            <a:extLst>
              <a:ext uri="{FF2B5EF4-FFF2-40B4-BE49-F238E27FC236}">
                <a16:creationId xmlns:a16="http://schemas.microsoft.com/office/drawing/2014/main" id="{42C348A0-1539-9C97-95BC-491D405D7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693" y="2179782"/>
            <a:ext cx="6079885" cy="206187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8B672BE3-7AE5-619A-5D5F-1BC7FE6F1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1266" y="3680690"/>
            <a:ext cx="4450022" cy="2267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177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184D7-369A-A8C8-2C79-77EA17F59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D86B0-CD29-D2B0-6BCF-88E1AA9BB3AD}"/>
              </a:ext>
            </a:extLst>
          </p:cNvPr>
          <p:cNvSpPr>
            <a:spLocks noGrp="1"/>
          </p:cNvSpPr>
          <p:nvPr>
            <p:ph type="title"/>
          </p:nvPr>
        </p:nvSpPr>
        <p:spPr>
          <a:xfrm>
            <a:off x="621792" y="448630"/>
            <a:ext cx="10936224" cy="1122198"/>
          </a:xfrm>
        </p:spPr>
        <p:txBody>
          <a:bodyPr>
            <a:normAutofit/>
          </a:bodyPr>
          <a:lstStyle/>
          <a:p>
            <a:r>
              <a:rPr lang="en-US" dirty="0"/>
              <a:t>Datasets for CV</a:t>
            </a:r>
            <a:endParaRPr lang="en-IN" dirty="0"/>
          </a:p>
        </p:txBody>
      </p:sp>
      <p:sp>
        <p:nvSpPr>
          <p:cNvPr id="3" name="Content Placeholder 2">
            <a:extLst>
              <a:ext uri="{FF2B5EF4-FFF2-40B4-BE49-F238E27FC236}">
                <a16:creationId xmlns:a16="http://schemas.microsoft.com/office/drawing/2014/main" id="{AB882D16-9E08-213C-7DAE-A22C7F425384}"/>
              </a:ext>
            </a:extLst>
          </p:cNvPr>
          <p:cNvSpPr>
            <a:spLocks noGrp="1"/>
          </p:cNvSpPr>
          <p:nvPr>
            <p:ph idx="1"/>
          </p:nvPr>
        </p:nvSpPr>
        <p:spPr>
          <a:xfrm>
            <a:off x="621792" y="1653309"/>
            <a:ext cx="10936224" cy="4562097"/>
          </a:xfrm>
        </p:spPr>
        <p:txBody>
          <a:bodyPr>
            <a:normAutofit/>
          </a:bodyPr>
          <a:lstStyle/>
          <a:p>
            <a:pPr algn="just"/>
            <a:r>
              <a:rPr lang="en-IN" sz="2400" b="1" dirty="0"/>
              <a:t>MNIST: </a:t>
            </a:r>
            <a:r>
              <a:rPr lang="en-US" sz="2400" dirty="0"/>
              <a:t>A large database of 70,000 grayscale images of handwritten digits, with 60,000 for training and 10,000 for testing </a:t>
            </a:r>
          </a:p>
          <a:p>
            <a:pPr algn="just"/>
            <a:endParaRPr lang="en-IN" sz="2400" dirty="0"/>
          </a:p>
        </p:txBody>
      </p:sp>
      <p:pic>
        <p:nvPicPr>
          <p:cNvPr id="8194" name="Picture 2">
            <a:extLst>
              <a:ext uri="{FF2B5EF4-FFF2-40B4-BE49-F238E27FC236}">
                <a16:creationId xmlns:a16="http://schemas.microsoft.com/office/drawing/2014/main" id="{539D4B7D-F96F-A3E2-0411-11261E394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849" y="2628899"/>
            <a:ext cx="4393459" cy="246033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แจก 10 Dataset สำหรับ Deep Learning – TechTalkThai">
            <a:extLst>
              <a:ext uri="{FF2B5EF4-FFF2-40B4-BE49-F238E27FC236}">
                <a16:creationId xmlns:a16="http://schemas.microsoft.com/office/drawing/2014/main" id="{B1B8C16F-54C8-980B-AB9C-78E584326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6308" y="3429000"/>
            <a:ext cx="4572165" cy="277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8609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Custom 1">
      <a:dk1>
        <a:sysClr val="windowText" lastClr="000000"/>
      </a:dk1>
      <a:lt1>
        <a:sysClr val="window" lastClr="FFFFFF"/>
      </a:lt1>
      <a:dk2>
        <a:srgbClr val="736059"/>
      </a:dk2>
      <a:lt2>
        <a:srgbClr val="FFFFFF"/>
      </a:lt2>
      <a:accent1>
        <a:srgbClr val="92B0C8"/>
      </a:accent1>
      <a:accent2>
        <a:srgbClr val="E37C3D"/>
      </a:accent2>
      <a:accent3>
        <a:srgbClr val="A5AB81"/>
      </a:accent3>
      <a:accent4>
        <a:srgbClr val="E9B635"/>
      </a:accent4>
      <a:accent5>
        <a:srgbClr val="7BA79D"/>
      </a:accent5>
      <a:accent6>
        <a:srgbClr val="968C8C"/>
      </a:accent6>
      <a:hlink>
        <a:srgbClr val="F7A115"/>
      </a:hlink>
      <a:folHlink>
        <a:srgbClr val="969696"/>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345</TotalTime>
  <Words>465</Words>
  <Application>Microsoft Office PowerPoint</Application>
  <PresentationFormat>Widescreen</PresentationFormat>
  <Paragraphs>37</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Garamond</vt:lpstr>
      <vt:lpstr>Savon</vt:lpstr>
      <vt:lpstr>Image Classification vs. Object Detection vs. Image Segmentation</vt:lpstr>
      <vt:lpstr>Image Classification vs. Object Detection vs. Image Segmentation</vt:lpstr>
      <vt:lpstr>Image Classification vs. Object Detection vs. Image Segmentation</vt:lpstr>
      <vt:lpstr>Image Classification vs. Object Detection vs. Image Segmentation</vt:lpstr>
      <vt:lpstr>Image Classification vs. Object Detection vs. Image Segmentation</vt:lpstr>
      <vt:lpstr>Image Classification vs. Object Detection vs. Image Segmentation</vt:lpstr>
      <vt:lpstr>Popular datasets for computer vision</vt:lpstr>
      <vt:lpstr>What is Computer Vision?</vt:lpstr>
      <vt:lpstr>Datasets for CV</vt:lpstr>
      <vt:lpstr>Datasets for CV</vt:lpstr>
      <vt:lpstr>Datasets for CV</vt:lpstr>
      <vt:lpstr>Datasets for CV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Swati Solanki</dc:creator>
  <cp:lastModifiedBy>Swati Solanki</cp:lastModifiedBy>
  <cp:revision>44</cp:revision>
  <dcterms:created xsi:type="dcterms:W3CDTF">2024-08-11T13:07:18Z</dcterms:created>
  <dcterms:modified xsi:type="dcterms:W3CDTF">2024-11-12T16:52:35Z</dcterms:modified>
</cp:coreProperties>
</file>